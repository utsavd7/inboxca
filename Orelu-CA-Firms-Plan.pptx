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slide24.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8" r:id="rId29"/>
    <p:sldId id="258" r:id="rId4"/>
    <p:sldId id="259" r:id="rId5"/>
    <p:sldId id="261" r:id="rId7"/>
    <p:sldId id="263" r:id="rId9"/>
    <p:sldId id="265" r:id="rId11"/>
    <p:sldId id="277" r:id="rId28"/>
    <p:sldId id="268" r:id="rId14"/>
    <p:sldId id="279" r:id="rId30"/>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6.xml"/><Relationship Id="rId9" Type="http://schemas.openxmlformats.org/officeDocument/2006/relationships/slide" Target="slides/slide10.xml"/><Relationship Id="rId11" Type="http://schemas.openxmlformats.org/officeDocument/2006/relationships/slide" Target="slides/slide13.xml"/><Relationship Id="rId14" Type="http://schemas.openxmlformats.org/officeDocument/2006/relationships/slide" Target="slides/slide17.xml"/><Relationship Id="rId16" Type="http://schemas.openxmlformats.org/officeDocument/2006/relationships/slide" Target="slides/slide19.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Scope is one launch with all agreed modules, built and verified incrementally</a:t>
            </a:r>
          </a:p>
          <a:p>
            <a:r>
              <a:t>• Email only at launch</a:t>
            </a:r>
          </a:p>
          <a:p>
            <a:r>
              <a:t>• WhatsApp and AI phone reminders are future add-ons</a:t>
            </a:r>
          </a:p>
          <a:p>
            <a:r>
              <a:t>• Prices appear only on the plans and estimate slides, as estimates; no fabricated performance claims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The Today column is from CA Paresh's own notes from our meeting on 30 Sep 2026: about 300 GB of documents a year, around 30 GB in September alone (the tax-audit month)</a:t>
            </a:r>
          </a:p>
          <a:p>
            <a:r>
              <a:t>• Software in use: KDK Spectrum, TaxPower and Tally</a:t>
            </a:r>
          </a:p>
          <a:p>
            <a:r>
              <a:t>• Email only for now</a:t>
            </a:r>
          </a:p>
          <a:p>
            <a:r>
              <a:t>• Every attachment is filed and named automatically; a repeated document is shown to the team to choose</a:t>
            </a:r>
          </a:p>
          <a:p>
            <a:r>
              <a:t>• Forms are saved in the client's folder and only the approved version is downloaded for filing</a:t>
            </a:r>
          </a:p>
          <a:p>
            <a:r>
              <a:t>• No email text is stored</a:t>
            </a:r>
          </a:p>
          <a:p>
            <a:r>
              <a:t>• Anything without an answer in the records goes to the team</a:t>
            </a:r>
          </a:p>
          <a:p>
            <a:r>
              <a:t>• Coming later, not in the launch: a WhatsApp assistant on the official WhatsApp Business service and AI phone reminders, as optional monthly packs the firm buys from Settings</a:t>
            </a:r>
          </a:p>
          <a:p>
            <a:r>
              <a:t>• Mention only if asked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Orelu prepares; the firm files in its own software or on the portal with its own OTP or digital signature</a:t>
            </a:r>
          </a:p>
          <a:p>
            <a:r>
              <a:t>• Every prepared form is saved in the client's folder and shows on the dashboard</a:t>
            </a:r>
          </a:p>
          <a:p>
            <a:r>
              <a:t>• You, or staff you allow, correct any figure; a new version is kept each time</a:t>
            </a:r>
          </a:p>
          <a:p>
            <a:r>
              <a:t>• Staff do the yes/no check on every figure; once all are checked they download the form to upload; you can also require a manager's or partner's sign-off first</a:t>
            </a:r>
          </a:p>
          <a:p>
            <a:r>
              <a:t>• Nothing is filed without staff approval</a:t>
            </a:r>
          </a:p>
          <a:p>
            <a:r>
              <a:t>• Dates apply to enabled services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Illustration only, with fictional client details</a:t>
            </a:r>
          </a:p>
          <a:p>
            <a:r>
              <a:t>• Email only for now</a:t>
            </a:r>
          </a:p>
          <a:p>
            <a:r>
              <a:t>• Before any reminder, Orelu checks what the client has already sent or filed; if nothing is pending, no reminder goes</a:t>
            </a:r>
          </a:p>
          <a:p>
            <a:r>
              <a:t>• The message uses an approved template filled from the client's own records, and every date is checked</a:t>
            </a:r>
          </a:p>
          <a:p>
            <a:r>
              <a:t>• Routine documents are sent automatically; sensitive ones need one staff approval</a:t>
            </a:r>
          </a:p>
          <a:p>
            <a:r>
              <a:t>• Orelu stores no email text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Dashboard sample data only, with fictional client names</a:t>
            </a:r>
          </a:p>
          <a:p>
            <a:r>
              <a:t>• Forms waiting for approval, overdue work and Needs team reply items all show here</a:t>
            </a:r>
          </a:p>
          <a:p>
            <a:r>
              <a:t>• Needs team reply shows the client and reason and opens your mailbox; it never stores the original question, summary or reply</a:t>
            </a:r>
          </a:p>
          <a:p>
            <a:r>
              <a:t>• The dashboard also shows how much of the month's AI allowance is used</a:t>
            </a:r>
          </a:p>
          <a:p>
            <a:r>
              <a:t>• Nothing is charged beyond the limits the owner sets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CA-business-only guardrails apply to email</a:t>
            </a:r>
          </a:p>
          <a:p>
            <a:r>
              <a:t>• No unrelated chat, advice or cross-client access</a:t>
            </a:r>
          </a:p>
          <a:p>
            <a:r>
              <a:t>• Access rules are set by the firm: by default any device with two-step sign-in; office-only, office-hours or device locks can be switched on for anyone</a:t>
            </a:r>
          </a:p>
          <a:p>
            <a:r>
              <a:t>• Spending is capped too: the owner sets the limits, and nothing extra is charged without the owner's OK</a:t>
            </a:r>
          </a:p>
          <a:p>
            <a:r>
              <a:t>• The locks are checked by the website every time anyone opens anything, so nothing needs installing and nothing on a PC can switch them off</a:t>
            </a:r>
          </a:p>
          <a:p>
            <a:r>
              <a:t>• Employees and managers can view every client's files on screen, correct a file's name, do the yes/no check on forms and download the checked forms to upload on the portal; anything else is a request to their manager, and deletes come to you; you can do everything and can change these rules in Settings</a:t>
            </a:r>
          </a:p>
          <a:p>
            <a:r>
              <a:t>• Office-only access for staff: see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Everything on this slide is done by the firm itself on the website; no Orelu person is needed and nothing is installed</a:t>
            </a:r>
          </a:p>
          <a:p>
            <a:r>
              <a:t>• Sign-up and payment are online; the firm is switched on automatically after the first payment, and payment then runs by itself through Razorpay AutoPay, monthly or yearly</a:t>
            </a:r>
          </a:p>
          <a:p>
            <a:r>
              <a:t>• Each person gets their own login; the owner's is free</a:t>
            </a:r>
          </a:p>
          <a:p>
            <a:r>
              <a:t>• Sensible defaults are set for the forms to start with, the folder order and which documents are sensitive; the owner can change them in Settings</a:t>
            </a:r>
          </a:p>
          <a:p>
            <a:r>
              <a:t>• Office-only access is optional: one switch from an office PC, then one tap to approve the PCs; a fixed internet address from the provider helps but is not required</a:t>
            </a:r>
          </a:p>
          <a:p>
            <a:r>
              <a:t>• The upload covers the last 3 years, meaning a rolling 36 months (about 1 TB for CA Paresh's firm, so it runs over a few days in the background); Tally data comes in as exported files</a:t>
            </a:r>
          </a:p>
          <a:p>
            <a:r>
              <a:t>• The owner can download any financial year, or single months, as a ZIP with the same folders and a list of every file, then choose to remove that period from Orelu; removed files sit in a 30-day bin first, and requests for them go to the team</a:t>
            </a:r>
          </a:p>
          <a:p>
            <a:r>
              <a:t>• As our first firm, CA Paresh is also asked for a few sample emails and export files, one sample file from TaxPower and one from KDK Spectrum (a file he imports into each today), and one test import in each, so we can test the product once; the import formats themselves are the official government ones, and later firms send nothing</a:t>
            </a:r>
          </a:p>
          <a:p>
            <a:r>
              <a:t>• Optional help by call or screen-share; never ask for passwords or one-time codes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After the 30 Sep meeting: collect samples, first forms, folder order and sensitive document types; demo each part with his firm as it is finished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Working prices shown as estimates, before GST</a:t>
            </a:r>
          </a:p>
          <a:p>
            <a:r>
              <a:t>• GST: Orelu charges no GST while it is below the registration limit; once Orelu is GST-registered, 18% is added, and a GST-registered firm can claim it back</a:t>
            </a:r>
          </a:p>
          <a:p>
            <a:r>
              <a:t>• Plans are sized by people and documents; clients are unlimited on every plan and the owner's login is free</a:t>
            </a:r>
          </a:p>
          <a:p>
            <a:r>
              <a:t>• The client numbers in the table are a rough guide only, never a limit; firms with many GST or audit clients need more storage per client</a:t>
            </a:r>
          </a:p>
          <a:p>
            <a:r>
              <a:t>• Behind each plan: Solo keeps 80 GB with 4,000 AI credits a month, Growth 200 GB and 10,000, Scale 400 GB and 24,000, Enterprise 800 GB and 60,000; his estimate has about 1,080 GB and 81,000</a:t>
            </a:r>
          </a:p>
          <a:p>
            <a:r>
              <a:t>• Custom plan: bought online like the others. On the website the firm moves two sliders, the GB of new documents a month and the number of people. Documents set the price; people up to 40 are included and do not change it, and only people above 40 add to it. The price, storage and AI allowance update at once from a fixed formula, and the firm pays online. No quote or call is needed</a:t>
            </a:r>
          </a:p>
          <a:p>
            <a:r>
              <a:t>• His estimate is the Custom plan: based on about 27 GB of new documents a month and up to 40 people; it is confirmed once his documents are measured; his head-count, under 10, does not change it</a:t>
            </a:r>
          </a:p>
          <a:p>
            <a:r>
              <a:t>• People: Solo includes 1 person besides the owner; Growth, Scale and Enterprise include up to 10, 20 and 40; any plan can add a person</a:t>
            </a:r>
          </a:p>
          <a:p>
            <a:r>
              <a:t>• Yearly payment gives 1 month free; there is no introductory discount</a:t>
            </a:r>
          </a:p>
          <a:p>
            <a:r>
              <a:t>• The plan follows a firm's documents, not its head-count: he has under 10 people but adds about 27 GB a month, so he is on Custom; its 40 logins cover him, and having fewer people does not lower the price</a:t>
            </a:r>
          </a:p>
          <a:p>
            <a:r>
              <a:t>• Extra storage and AI blocks are capped on every plan (Solo 1 and 1, Growth 1 and 3, Scale 3 and 8, Enterprise 2 and 3, Custom up to a quarter of its own allowance); they are headroom for a busy month, and beyond the cap a firm moves up a plan</a:t>
            </a:r>
          </a:p>
          <a:p>
            <a:r>
              <a:t>• Custom is priced in slabs that get cheaper as a firm grows, for documents and for people; his 27 GB a month sits in the first slab, so his estimate does not change</a:t>
            </a:r>
          </a:p>
          <a:p>
            <a:r>
              <a:t>• Money-back: if he cancels online within 14 days of his first payment, the plan payment comes back in full to the same account, usually in 5 to 7 working days; once per firm</a:t>
            </a:r>
          </a:p>
          <a:p>
            <a:r>
              <a:t>• The one-time setup charge is not returned once his old files have started loading; after the 14 days there are no part refunds, and cancelling stops the next renewal</a:t>
            </a:r>
          </a:p>
          <a:p>
            <a:r>
              <a:t>• Do not discuss Orelu's own costs or how prices are worked 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image" Target="../media/image-10-5.png"/><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3-3.png"/><Relationship Id="rId5" Type="http://schemas.openxmlformats.org/officeDocument/2006/relationships/image" Target="../media/image-13-6.png"/><Relationship Id="rId6" Type="http://schemas.openxmlformats.org/officeDocument/2006/relationships/image" Target="../media/image-13-5.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 Id="rId10" Type="http://schemas.openxmlformats.org/officeDocument/2006/relationships/image" Target="../media/image-1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xml"/><Relationship Id="rId1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InboxCA logo">    </p:cNvPr>
          <p:cNvPicPr>
            <a:picLocks noChangeAspect="1"/>
          </p:cNvPicPr>
          <p:nvPr/>
        </p:nvPicPr>
        <p:blipFill>
          <a:blip r:embed="rId1"/>
          <a:stretch>
            <a:fillRect/>
          </a:stretch>
        </p:blipFill>
        <p:spPr>
          <a:xfrm>
            <a:off x="548640" y="548640"/>
            <a:ext cx="2194560" cy="627735"/>
          </a:xfrm>
          <a:prstGeom prst="rect">
            <a:avLst/>
          </a:prstGeom>
        </p:spPr>
      </p:pic>
      <p:sp>
        <p:nvSpPr>
          <p:cNvPr id="3" name="Text 0"/>
          <p:cNvSpPr txBox="1"/>
          <p:nvPr/>
        </p:nvSpPr>
        <p:spPr>
          <a:xfrm>
            <a:off x="548640" y="2834640"/>
            <a:ext cx="11091672" cy="274320"/>
          </a:xfrm>
          <a:prstGeom prst="rect">
            <a:avLst/>
          </a:prstGeom>
          <a:noFill/>
          <a:ln/>
        </p:spPr>
        <p:txBody>
          <a:bodyPr wrap="square" lIns="0" tIns="0" rIns="0" bIns="0" rtlCol="0" anchor="t"/>
          <a:lstStyle/>
          <a:p>
            <a:pPr indent="0" marL="0">
              <a:buNone/>
            </a:pPr>
            <a:r>
              <a:rPr lang="en-US" sz="1200" b="1" spc="300" kern="0" dirty="0">
                <a:solidFill>
                  <a:srgbClr val="C2D3F7"/>
                </a:solidFill>
                <a:latin typeface="Arial" pitchFamily="34" charset="0"/>
                <a:ea typeface="Arial" pitchFamily="34" charset="-122"/>
                <a:cs typeface="Arial" pitchFamily="34" charset="-120"/>
              </a:rPr>
              <a:t>PREPARED FOR CA PARESH · OCTOBER 2026</a:t>
            </a:r>
            <a:endParaRPr lang="en-US" sz="1200" dirty="0"/>
          </a:p>
        </p:txBody>
      </p:sp>
      <p:sp>
        <p:nvSpPr>
          <p:cNvPr id="4" name="Text 1"/>
          <p:cNvSpPr txBox="1"/>
          <p:nvPr/>
        </p:nvSpPr>
        <p:spPr>
          <a:xfrm>
            <a:off x="548640" y="3200400"/>
            <a:ext cx="10515600" cy="1554480"/>
          </a:xfrm>
          <a:prstGeom prst="rect">
            <a:avLst/>
          </a:prstGeom>
          <a:noFill/>
          <a:ln/>
        </p:spPr>
        <p:txBody>
          <a:bodyPr wrap="square" lIns="0" tIns="0" rIns="0" bIns="0" rtlCol="0" anchor="t"/>
          <a:lstStyle/>
          <a:p>
            <a:pPr indent="0" marL="0">
              <a:lnSpc>
                <a:spcPct val="95000"/>
              </a:lnSpc>
              <a:buNone/>
            </a:pPr>
            <a:r>
              <a:rPr lang="en-US" sz="4800" b="1" dirty="0">
                <a:solidFill>
                  <a:srgbClr val="F2F5F9"/>
                </a:solidFill>
                <a:latin typeface="Arial" pitchFamily="34" charset="0"/>
                <a:ea typeface="Arial" pitchFamily="34" charset="-122"/>
                <a:cs typeface="Arial" pitchFamily="34" charset="-120"/>
              </a:rPr>
              <a:t>Less chasing for your CA firm.</a:t>
            </a:r>
            <a:endParaRPr lang="en-US" sz="4800" dirty="0"/>
          </a:p>
          <a:p>
            <a:pPr indent="0" marL="0">
              <a:lnSpc>
                <a:spcPct val="95000"/>
              </a:lnSpc>
              <a:buNone/>
            </a:pPr>
            <a:r>
              <a:rPr lang="en-US" sz="4800" b="1" dirty="0">
                <a:solidFill>
                  <a:srgbClr val="F2F5F9"/>
                </a:solidFill>
                <a:latin typeface="Arial" pitchFamily="34" charset="0"/>
                <a:ea typeface="Arial" pitchFamily="34" charset="-122"/>
                <a:cs typeface="Arial" pitchFamily="34" charset="-120"/>
              </a:rPr>
              <a:t>More doing.</a:t>
            </a:r>
            <a:endParaRPr lang="en-US" sz="4800" dirty="0"/>
          </a:p>
        </p:txBody>
      </p:sp>
      <p:sp>
        <p:nvSpPr>
          <p:cNvPr id="5" name="Text 2"/>
          <p:cNvSpPr txBox="1"/>
          <p:nvPr/>
        </p:nvSpPr>
        <p:spPr>
          <a:xfrm>
            <a:off x="548640" y="4892040"/>
            <a:ext cx="9144000" cy="914400"/>
          </a:xfrm>
          <a:prstGeom prst="rect">
            <a:avLst/>
          </a:prstGeom>
          <a:noFill/>
          <a:ln/>
        </p:spPr>
        <p:txBody>
          <a:bodyPr wrap="square" lIns="0" tIns="0" rIns="0" bIns="0" rtlCol="0" anchor="t"/>
          <a:lstStyle/>
          <a:p>
            <a:pPr indent="0" marL="0">
              <a:buNone/>
            </a:pPr>
            <a:r>
              <a:rPr lang="en-US" sz="1800" dirty="0">
                <a:solidFill>
                  <a:srgbClr val="A8B6CF"/>
                </a:solidFill>
                <a:latin typeface="Arial" pitchFamily="34" charset="0"/>
                <a:ea typeface="Arial" pitchFamily="34" charset="-122"/>
                <a:cs typeface="Arial" pitchFamily="34" charset="-120"/>
              </a:rPr>
              <a:t>One system that reads your client emails, saves every file, fills GST and ITR forms for your team to check, and answers simple requests, so your team can focus on the real work.</a:t>
            </a:r>
            <a:endParaRPr lang="en-US" sz="1800" dirty="0"/>
          </a:p>
        </p:txBody>
      </p:sp>
      <p:sp>
        <p:nvSpPr>
          <p:cNvPr id="6" name="Text 3"/>
          <p:cNvSpPr txBox="1"/>
          <p:nvPr/>
        </p:nvSpPr>
        <p:spPr>
          <a:xfrm>
            <a:off x="548640" y="6172200"/>
            <a:ext cx="9144000" cy="274320"/>
          </a:xfrm>
          <a:prstGeom prst="rect">
            <a:avLst/>
          </a:prstGeom>
          <a:noFill/>
          <a:ln/>
        </p:spPr>
        <p:txBody>
          <a:bodyPr wrap="square" lIns="0" tIns="0" rIns="0" bIns="0" rtlCol="0" anchor="t"/>
          <a:lstStyle/>
          <a:p>
            <a:pPr indent="0" marL="0">
              <a:buNone/>
            </a:pPr>
            <a:r>
              <a:rPr lang="en-US" sz="1200" dirty="0">
                <a:solidFill>
                  <a:srgbClr val="A8B6CF"/>
                </a:solidFill>
                <a:latin typeface="Arial" pitchFamily="34" charset="0"/>
                <a:ea typeface="Arial" pitchFamily="34" charset="-122"/>
                <a:cs typeface="Arial" pitchFamily="34" charset="-120"/>
              </a:rPr>
              <a:t>Utsav Doshi and Ria Chheda, Orelu</a:t>
            </a:r>
            <a:endParaRPr lang="en-US" sz="1200" dirty="0"/>
          </a:p>
        </p:txBody>
      </p:sp>
      <p:sp>
        <p:nvSpPr>
          <p:cNvPr id="7" name="Maker label"/>
          <p:cNvSpPr txBox="1"/>
          <p:nvPr/>
        </p:nvSpPr>
        <p:spPr>
          <a:xfrm>
            <a:off x="8973312" y="725347"/>
            <a:ext cx="1371600" cy="274320"/>
          </a:xfrm>
          <a:prstGeom prst="rect">
            <a:avLst/>
          </a:prstGeom>
          <a:noFill/>
          <a:ln/>
        </p:spPr>
        <p:txBody>
          <a:bodyPr wrap="square" lIns="0" tIns="0" rIns="0" bIns="0" rtlCol="0" anchor="ctr"/>
          <a:lstStyle/>
          <a:p>
            <a:pPr indent="0" marL="0" algn="r">
              <a:buNone/>
            </a:pPr>
            <a:r>
              <a:rPr lang="en-US" sz="1200" dirty="0">
                <a:solidFill>
                  <a:srgbClr val="C2D3F7"/>
                </a:solidFill>
                <a:latin typeface="Arial" pitchFamily="34" charset="0"/>
                <a:ea typeface="Arial" pitchFamily="34" charset="-122"/>
                <a:cs typeface="Arial" pitchFamily="34" charset="-120"/>
              </a:rPr>
              <a:t>A product by</a:t>
            </a:r>
          </a:p>
        </p:txBody>
      </p:sp>
      <p:pic>
        <p:nvPicPr>
          <p:cNvPr id="8" name="Orelu logo" descr="Orelu logo"/>
          <p:cNvPicPr>
            <a:picLocks noChangeAspect="1"/>
          </p:cNvPicPr>
          <p:nvPr/>
        </p:nvPicPr>
        <p:blipFill>
          <a:blip r:embed="rId4"/>
          <a:stretch>
            <a:fillRect/>
          </a:stretch>
        </p:blipFill>
        <p:spPr>
          <a:xfrm>
            <a:off x="10454640" y="692479"/>
            <a:ext cx="1188720" cy="34005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200" b="1" spc="300" kern="0" dirty="0">
                <a:solidFill>
                  <a:srgbClr val="1A4BB0"/>
                </a:solidFill>
                <a:latin typeface="Arial" pitchFamily="34" charset="0"/>
                <a:ea typeface="Arial" pitchFamily="34" charset="-122"/>
                <a:cs typeface="Arial" pitchFamily="34" charset="-120"/>
              </a:rPr>
              <a:t>TODAY, AND WITH INBOXCA</a:t>
            </a:r>
            <a:endParaRPr lang="en-US" sz="1200" dirty="0"/>
          </a:p>
        </p:txBody>
      </p:sp>
      <p:sp>
        <p:nvSpPr>
          <p:cNvPr id="3" name="Text 1"/>
          <p:cNvSpPr txBox="1"/>
          <p:nvPr/>
        </p:nvSpPr>
        <p:spPr>
          <a:xfrm>
            <a:off x="548640" y="777240"/>
            <a:ext cx="11091672" cy="685800"/>
          </a:xfrm>
          <a:prstGeom prst="rect">
            <a:avLst/>
          </a:prstGeom>
          <a:noFill/>
          <a:ln/>
        </p:spPr>
        <p:txBody>
          <a:bodyPr wrap="square" lIns="0" tIns="0" rIns="0" bIns="0" rtlCol="0" anchor="t"/>
          <a:lstStyle/>
          <a:p>
            <a:pPr indent="0" marL="0">
              <a:buNone/>
            </a:pPr>
            <a:r>
              <a:rPr lang="en-US" sz="3200" b="1" dirty="0">
                <a:solidFill>
                  <a:srgbClr val="0B1F3A"/>
                </a:solidFill>
                <a:latin typeface="Arial" pitchFamily="34" charset="0"/>
                <a:ea typeface="Arial" pitchFamily="34" charset="-122"/>
                <a:cs typeface="Arial" pitchFamily="34" charset="-120"/>
              </a:rPr>
              <a:t>What changes for your firm</a:t>
            </a:r>
            <a:endParaRPr lang="en-US" sz="3200" dirty="0"/>
          </a:p>
        </p:txBody>
      </p:sp>
      <p:sp>
        <p:nvSpPr>
          <p:cNvPr id="50" name="Text 40"/>
          <p:cNvSpPr txBox="1"/>
          <p:nvPr/>
        </p:nvSpPr>
        <p:spPr>
          <a:xfrm>
            <a:off x="548640" y="6355080"/>
            <a:ext cx="9144000" cy="274320"/>
          </a:xfrm>
          <a:prstGeom prst="rect">
            <a:avLst/>
          </a:prstGeom>
          <a:noFill/>
          <a:ln/>
        </p:spPr>
        <p:txBody>
          <a:bodyPr wrap="square" lIns="0" tIns="0" rIns="0" bIns="0" rtlCol="0" anchor="t"/>
          <a:lstStyle/>
          <a:p>
            <a:pPr indent="0" marL="0">
              <a:buNone/>
            </a:pPr>
            <a:r>
              <a:rPr lang="en-US" sz="1000" dirty="0">
                <a:solidFill>
                  <a:srgbClr val="51607A"/>
                </a:solidFill>
                <a:latin typeface="Arial" pitchFamily="34" charset="0"/>
                <a:ea typeface="Arial" pitchFamily="34" charset="-122"/>
                <a:cs typeface="Arial" pitchFamily="34" charset="-120"/>
              </a:rPr>
              <a:t>InboxCA · a product by Orelu · Prepared for CA Paresh</a:t>
            </a:r>
            <a:endParaRPr lang="en-US" sz="1000" dirty="0"/>
          </a:p>
        </p:txBody>
      </p:sp>
      <p:sp>
        <p:nvSpPr>
          <p:cNvPr id="51" name="Text 41"/>
          <p:cNvSpPr txBox="1"/>
          <p:nvPr/>
        </p:nvSpPr>
        <p:spPr>
          <a:xfrm>
            <a:off x="10908792" y="6355080"/>
            <a:ext cx="731520" cy="274320"/>
          </a:xfrm>
          <a:prstGeom prst="rect">
            <a:avLst/>
          </a:prstGeom>
          <a:noFill/>
          <a:ln/>
        </p:spPr>
        <p:txBody>
          <a:bodyPr wrap="square" lIns="0" tIns="0" rIns="0" bIns="0" rtlCol="0" anchor="t"/>
          <a:lstStyle/>
          <a:p>
            <a:pPr algn="r" indent="0" marL="0">
              <a:buNone/>
            </a:pPr>
            <a:r>
              <a:rPr lang="en-US" sz="1000" dirty="0">
                <a:solidFill>
                  <a:srgbClr val="51607A"/>
                </a:solidFill>
                <a:latin typeface="Arial" pitchFamily="34" charset="0"/>
                <a:ea typeface="Arial" pitchFamily="34" charset="-122"/>
                <a:cs typeface="Arial" pitchFamily="34" charset="-120"/>
              </a:rPr>
              <a:t>3</a:t>
            </a:r>
            <a:endParaRPr lang="en-US" sz="1000" dirty="0"/>
          </a:p>
        </p:txBody>
      </p:sp>
      <p:graphicFrame>
        <p:nvGraphicFramePr>
          <p:cNvPr id="900" name="Table"/>
          <p:cNvGraphicFramePr>
            <a:graphicFrameLocks noGrp="1"/>
          </p:cNvGraphicFramePr>
          <p:nvPr/>
        </p:nvGraphicFramePr>
        <p:xfrm>
          <a:off x="548640" y="1600200"/>
          <a:ext cx="11091672" cy="4178808"/>
        </p:xfrm>
        <a:graphic>
          <a:graphicData uri="http://schemas.openxmlformats.org/drawingml/2006/table">
            <a:tbl>
              <a:tblPr firstRow="1"/>
              <a:tblGrid>
                <a:gridCol w="2926080"/>
                <a:gridCol w="2286000"/>
                <a:gridCol w="5879592"/>
              </a:tblGrid>
              <a:tr h="393192">
                <a:tc>
                  <a:txBody>
                    <a:bodyPr/>
                    <a:lstStyle/>
                    <a:p>
                      <a:pPr indent="0" marL="0" algn="l">
                        <a:buNone/>
                      </a:pPr>
                      <a:r>
                        <a:rPr lang="en-US" sz="1300" b="1" dirty="0">
                          <a:solidFill>
                            <a:srgbClr val="FFFFFF"/>
                          </a:solidFill>
                          <a:latin typeface="Arial" pitchFamily="34" charset="0"/>
                          <a:ea typeface="Arial" pitchFamily="34" charset="-122"/>
                          <a:cs typeface="Arial" pitchFamily="34" charset="-120"/>
                        </a:rPr>
                        <a:t>Today</a:t>
                      </a:r>
                    </a:p>
                  </a:txBody>
                  <a:tcPr marL="137160" marR="137160" marT="64008" marB="64008" anchor="ctr">
                    <a:lnL w="9525">
                      <a:noFill/>
                    </a:lnL>
                    <a:lnR w="9525">
                      <a:noFill/>
                    </a:lnR>
                    <a:lnT w="9525">
                      <a:noFill/>
                    </a:lnT>
                    <a:lnB w="9525">
                      <a:noFill/>
                    </a:lnB>
                    <a:solidFill>
                      <a:srgbClr val="0B1F3A"/>
                    </a:solidFill>
                  </a:tcPr>
                </a:tc>
                <a:tc>
                  <a:txBody>
                    <a:bodyPr/>
                    <a:lstStyle/>
                    <a:p>
                      <a:pPr indent="0" marL="0" algn="l">
                        <a:buNone/>
                      </a:pPr>
                      <a:r>
                        <a:rPr lang="en-US" sz="1300" b="1" dirty="0">
                          <a:solidFill>
                            <a:srgbClr val="FFFFFF"/>
                          </a:solidFill>
                          <a:latin typeface="Arial" pitchFamily="34" charset="0"/>
                          <a:ea typeface="Arial" pitchFamily="34" charset="-122"/>
                          <a:cs typeface="Arial" pitchFamily="34" charset="-120"/>
                        </a:rPr>
                        <a:t>What InboxCA does</a:t>
                      </a:r>
                    </a:p>
                  </a:txBody>
                  <a:tcPr marL="137160" marR="137160" marT="64008" marB="64008" anchor="ctr">
                    <a:lnL w="9525">
                      <a:noFill/>
                    </a:lnL>
                    <a:lnR w="9525">
                      <a:noFill/>
                    </a:lnR>
                    <a:lnT w="9525">
                      <a:noFill/>
                    </a:lnT>
                    <a:lnB w="9525">
                      <a:noFill/>
                    </a:lnB>
                    <a:solidFill>
                      <a:srgbClr val="1A4BB0"/>
                    </a:solidFill>
                  </a:tcPr>
                </a:tc>
                <a:tc>
                  <a:txBody>
                    <a:bodyPr/>
                    <a:lstStyle/>
                    <a:p>
                      <a:pPr indent="0" marL="0" algn="l">
                        <a:buNone/>
                      </a:pPr>
                      <a:r>
                        <a:rPr lang="en-US" sz="1300" b="1" dirty="0">
                          <a:solidFill>
                            <a:srgbClr val="FFFFFF"/>
                          </a:solidFill>
                          <a:latin typeface="Arial" pitchFamily="34" charset="0"/>
                          <a:ea typeface="Arial" pitchFamily="34" charset="-122"/>
                          <a:cs typeface="Arial" pitchFamily="34" charset="-120"/>
                        </a:rPr>
                        <a:t>In simple words</a:t>
                      </a:r>
                    </a:p>
                  </a:txBody>
                  <a:tcPr marL="137160" marR="137160" marT="64008" marB="64008" anchor="ctr">
                    <a:lnL w="9525">
                      <a:noFill/>
                    </a:lnL>
                    <a:lnR w="9525">
                      <a:noFill/>
                    </a:lnR>
                    <a:lnT w="9525">
                      <a:noFill/>
                    </a:lnT>
                    <a:lnB w="9525">
                      <a:noFill/>
                    </a:lnB>
                    <a:solidFill>
                      <a:srgbClr val="0B1F3A"/>
                    </a:solidFill>
                  </a:tcPr>
                </a:tc>
              </a:tr>
              <a:tr h="420624">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Too many emails, sorted by hand</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300" b="1" dirty="0">
                          <a:solidFill>
                            <a:srgbClr val="0B1F3A"/>
                          </a:solidFill>
                          <a:latin typeface="Arial" pitchFamily="34" charset="0"/>
                          <a:ea typeface="Arial" pitchFamily="34" charset="-122"/>
                          <a:cs typeface="Arial" pitchFamily="34" charset="-120"/>
                        </a:rPr>
                        <a:t>Email assistant (AI)</a:t>
                      </a:r>
                    </a:p>
                  </a:txBody>
                  <a:tcPr marL="137160" marR="137160" marT="64008" marB="64008" anchor="ctr">
                    <a:lnL w="9525">
                      <a:noFill/>
                    </a:lnL>
                    <a:lnR w="9525">
                      <a:noFill/>
                    </a:lnR>
                    <a:lnT w="9525">
                      <a:noFill/>
                    </a:lnT>
                    <a:lnB w="9525">
                      <a:solidFill>
                        <a:srgbClr val="D9E0EA"/>
                      </a:solidFill>
                    </a:lnB>
                    <a:solidFill>
                      <a:srgbClr val="E6ECF5"/>
                    </a:solidFill>
                  </a:tcPr>
                </a:tc>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Reads client emails, sorts them, and sends clients the papers they ask for.</a:t>
                      </a:r>
                    </a:p>
                  </a:txBody>
                  <a:tcPr marL="137160" marR="137160" marT="64008" marB="64008" anchor="ctr">
                    <a:lnL w="9525">
                      <a:noFill/>
                    </a:lnL>
                    <a:lnR w="9525">
                      <a:noFill/>
                    </a:lnR>
                    <a:lnT w="9525">
                      <a:noFill/>
                    </a:lnT>
                    <a:lnB w="9525">
                      <a:solidFill>
                        <a:srgbClr val="D9E0EA"/>
                      </a:solidFill>
                    </a:lnB>
                    <a:solidFill>
                      <a:srgbClr val="FFFFFF"/>
                    </a:solidFill>
                  </a:tcPr>
                </a:tc>
              </a:tr>
              <a:tr h="420624">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Files saved and named by hand</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300" b="1" dirty="0">
                          <a:solidFill>
                            <a:srgbClr val="0B1F3A"/>
                          </a:solidFill>
                          <a:latin typeface="Arial" pitchFamily="34" charset="0"/>
                          <a:ea typeface="Arial" pitchFamily="34" charset="-122"/>
                          <a:cs typeface="Arial" pitchFamily="34" charset="-120"/>
                        </a:rPr>
                        <a:t>Files saved for you (AI)</a:t>
                      </a:r>
                    </a:p>
                  </a:txBody>
                  <a:tcPr marL="137160" marR="137160" marT="64008" marB="64008" anchor="ctr">
                    <a:lnL w="9525">
                      <a:noFill/>
                    </a:lnL>
                    <a:lnR w="9525">
                      <a:noFill/>
                    </a:lnR>
                    <a:lnT w="9525">
                      <a:noFill/>
                    </a:lnT>
                    <a:lnB w="9525">
                      <a:solidFill>
                        <a:srgbClr val="D9E0EA"/>
                      </a:solidFill>
                    </a:lnB>
                    <a:solidFill>
                      <a:srgbClr val="E6ECF5"/>
                    </a:solidFill>
                  </a:tcPr>
                </a:tc>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Each file a client emails is saved in that client's folder in your own OneDrive or Dropbox, with a clear name.</a:t>
                      </a:r>
                    </a:p>
                  </a:txBody>
                  <a:tcPr marL="137160" marR="137160" marT="64008" marB="64008" anchor="ctr">
                    <a:lnL w="9525">
                      <a:noFill/>
                    </a:lnL>
                    <a:lnR w="9525">
                      <a:noFill/>
                    </a:lnR>
                    <a:lnT w="9525">
                      <a:noFill/>
                    </a:lnT>
                    <a:lnB w="9525">
                      <a:solidFill>
                        <a:srgbClr val="D9E0EA"/>
                      </a:solidFill>
                    </a:lnB>
                    <a:solidFill>
                      <a:srgbClr val="FFFFFF"/>
                    </a:solidFill>
                  </a:tcPr>
                </a:tc>
              </a:tr>
              <a:tr h="420624">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Numbers typed again into forms</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300" b="1" dirty="0">
                          <a:solidFill>
                            <a:srgbClr val="0B1F3A"/>
                          </a:solidFill>
                          <a:latin typeface="Arial" pitchFamily="34" charset="0"/>
                          <a:ea typeface="Arial" pitchFamily="34" charset="-122"/>
                          <a:cs typeface="Arial" pitchFamily="34" charset="-120"/>
                        </a:rPr>
                        <a:t>Forms ready to file (AI)</a:t>
                      </a:r>
                    </a:p>
                  </a:txBody>
                  <a:tcPr marL="137160" marR="137160" marT="64008" marB="64008" anchor="ctr">
                    <a:lnL w="9525">
                      <a:noFill/>
                    </a:lnL>
                    <a:lnR w="9525">
                      <a:noFill/>
                    </a:lnR>
                    <a:lnT w="9525">
                      <a:noFill/>
                    </a:lnT>
                    <a:lnB w="9525">
                      <a:solidFill>
                        <a:srgbClr val="D9E0EA"/>
                      </a:solidFill>
                    </a:lnB>
                    <a:solidFill>
                      <a:srgbClr val="E6ECF5"/>
                    </a:solidFill>
                  </a:tcPr>
                </a:tc>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Fills GST and ITR forms from Tally, Excel and PDFs for your team to check.</a:t>
                      </a:r>
                    </a:p>
                  </a:txBody>
                  <a:tcPr marL="137160" marR="137160" marT="64008" marB="64008" anchor="ctr">
                    <a:lnL w="9525">
                      <a:noFill/>
                    </a:lnL>
                    <a:lnR w="9525">
                      <a:noFill/>
                    </a:lnR>
                    <a:lnT w="9525">
                      <a:noFill/>
                    </a:lnT>
                    <a:lnB w="9525">
                      <a:solidFill>
                        <a:srgbClr val="D9E0EA"/>
                      </a:solidFill>
                    </a:lnB>
                    <a:solidFill>
                      <a:srgbClr val="FFFFFF"/>
                    </a:solidFill>
                  </a:tcPr>
                </a:tc>
              </a:tr>
              <a:tr h="420624">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Files on one disk, open to anyone</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300" b="1" dirty="0">
                          <a:solidFill>
                            <a:srgbClr val="0B1F3A"/>
                          </a:solidFill>
                          <a:latin typeface="Arial" pitchFamily="34" charset="0"/>
                          <a:ea typeface="Arial" pitchFamily="34" charset="-122"/>
                          <a:cs typeface="Arial" pitchFamily="34" charset="-120"/>
                        </a:rPr>
                        <a:t>Files kept safe</a:t>
                      </a:r>
                    </a:p>
                  </a:txBody>
                  <a:tcPr marL="137160" marR="137160" marT="64008" marB="64008" anchor="ctr">
                    <a:lnL w="9525">
                      <a:noFill/>
                    </a:lnL>
                    <a:lnR w="9525">
                      <a:noFill/>
                    </a:lnR>
                    <a:lnT w="9525">
                      <a:noFill/>
                    </a:lnT>
                    <a:lnB w="9525">
                      <a:solidFill>
                        <a:srgbClr val="D9E0EA"/>
                      </a:solidFill>
                    </a:lnB>
                    <a:solidFill>
                      <a:srgbClr val="E6ECF5"/>
                    </a:solidFill>
                  </a:tcPr>
                </a:tc>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Files stay in the drive you already have, linked to InboxCA. Staff can only look; any change needs your OK.</a:t>
                      </a:r>
                    </a:p>
                  </a:txBody>
                  <a:tcPr marL="137160" marR="137160" marT="64008" marB="64008" anchor="ctr">
                    <a:lnL w="9525">
                      <a:noFill/>
                    </a:lnL>
                    <a:lnR w="9525">
                      <a:noFill/>
                    </a:lnR>
                    <a:lnT w="9525">
                      <a:noFill/>
                    </a:lnT>
                    <a:lnB w="9525">
                      <a:solidFill>
                        <a:srgbClr val="D9E0EA"/>
                      </a:solidFill>
                    </a:lnB>
                    <a:solidFill>
                      <a:srgbClr val="FFFFFF"/>
                    </a:solidFill>
                  </a:tcPr>
                </a:tc>
              </a:tr>
              <a:tr h="420624">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300" b="1" dirty="0">
                          <a:solidFill>
                            <a:srgbClr val="0B1F3A"/>
                          </a:solidFill>
                          <a:latin typeface="Arial" pitchFamily="34" charset="0"/>
                          <a:ea typeface="Arial" pitchFamily="34" charset="-122"/>
                          <a:cs typeface="Arial" pitchFamily="34" charset="-120"/>
                        </a:rPr>
                        <a:t>Dashboard</a:t>
                      </a:r>
                    </a:p>
                  </a:txBody>
                  <a:tcPr marL="137160" marR="137160" marT="64008" marB="64008" anchor="ctr">
                    <a:lnL w="9525">
                      <a:noFill/>
                    </a:lnL>
                    <a:lnR w="9525">
                      <a:noFill/>
                    </a:lnR>
                    <a:lnT w="9525">
                      <a:noFill/>
                    </a:lnT>
                    <a:lnB w="9525">
                      <a:solidFill>
                        <a:srgbClr val="D9E0EA"/>
                      </a:solidFill>
                    </a:lnB>
                    <a:solidFill>
                      <a:srgbClr val="E6ECF5"/>
                    </a:solidFill>
                  </a:tcPr>
                </a:tc>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One screen that shows every client, what is due and what is still missing.</a:t>
                      </a:r>
                    </a:p>
                  </a:txBody>
                  <a:tcPr marL="137160" marR="137160" marT="64008" marB="64008" anchor="ctr">
                    <a:lnL w="9525">
                      <a:noFill/>
                    </a:lnL>
                    <a:lnR w="9525">
                      <a:noFill/>
                    </a:lnR>
                    <a:lnT w="9525">
                      <a:noFill/>
                    </a:lnT>
                    <a:lnB w="9525">
                      <a:solidFill>
                        <a:srgbClr val="D9E0EA"/>
                      </a:solidFill>
                    </a:lnB>
                    <a:solidFill>
                      <a:srgbClr val="FFFFFF"/>
                    </a:solidFill>
                  </a:tcPr>
                </a:tc>
              </a:tr>
              <a:tr h="420624">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300" b="1" dirty="0">
                          <a:solidFill>
                            <a:srgbClr val="0B1F3A"/>
                          </a:solidFill>
                          <a:latin typeface="Arial" pitchFamily="34" charset="0"/>
                          <a:ea typeface="Arial" pitchFamily="34" charset="-122"/>
                          <a:cs typeface="Arial" pitchFamily="34" charset="-120"/>
                        </a:rPr>
                        <a:t>Client list</a:t>
                      </a:r>
                    </a:p>
                  </a:txBody>
                  <a:tcPr marL="137160" marR="137160" marT="64008" marB="64008" anchor="ctr">
                    <a:lnL w="9525">
                      <a:noFill/>
                    </a:lnL>
                    <a:lnR w="9525">
                      <a:noFill/>
                    </a:lnR>
                    <a:lnT w="9525">
                      <a:noFill/>
                    </a:lnT>
                    <a:lnB w="9525">
                      <a:solidFill>
                        <a:srgbClr val="D9E0EA"/>
                      </a:solidFill>
                    </a:lnB>
                    <a:solidFill>
                      <a:srgbClr val="E6ECF5"/>
                    </a:solidFill>
                  </a:tcPr>
                </a:tc>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All your clients and their details in one place, loaded from your Excel sheet.</a:t>
                      </a:r>
                    </a:p>
                  </a:txBody>
                  <a:tcPr marL="137160" marR="137160" marT="64008" marB="64008" anchor="ctr">
                    <a:lnL w="9525">
                      <a:noFill/>
                    </a:lnL>
                    <a:lnR w="9525">
                      <a:noFill/>
                    </a:lnR>
                    <a:lnT w="9525">
                      <a:noFill/>
                    </a:lnT>
                    <a:lnB w="9525">
                      <a:solidFill>
                        <a:srgbClr val="D9E0EA"/>
                      </a:solidFill>
                    </a:lnB>
                    <a:solidFill>
                      <a:srgbClr val="FFFFFF"/>
                    </a:solidFill>
                  </a:tcPr>
                </a:tc>
              </a:tr>
              <a:tr h="420624">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300" b="1" dirty="0">
                          <a:solidFill>
                            <a:srgbClr val="0B1F3A"/>
                          </a:solidFill>
                          <a:latin typeface="Arial" pitchFamily="34" charset="0"/>
                          <a:ea typeface="Arial" pitchFamily="34" charset="-122"/>
                          <a:cs typeface="Arial" pitchFamily="34" charset="-120"/>
                        </a:rPr>
                        <a:t>Due-date calendar</a:t>
                      </a:r>
                    </a:p>
                  </a:txBody>
                  <a:tcPr marL="137160" marR="137160" marT="64008" marB="64008" anchor="ctr">
                    <a:lnL w="9525">
                      <a:noFill/>
                    </a:lnL>
                    <a:lnR w="9525">
                      <a:noFill/>
                    </a:lnR>
                    <a:lnT w="9525">
                      <a:noFill/>
                    </a:lnT>
                    <a:lnB w="9525">
                      <a:solidFill>
                        <a:srgbClr val="D9E0EA"/>
                      </a:solidFill>
                    </a:lnB>
                    <a:solidFill>
                      <a:srgbClr val="E6ECF5"/>
                    </a:solidFill>
                  </a:tcPr>
                </a:tc>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Each client's GST, TDS, ITR and ROC due dates, so nothing is missed.</a:t>
                      </a:r>
                    </a:p>
                  </a:txBody>
                  <a:tcPr marL="137160" marR="137160" marT="64008" marB="64008" anchor="ctr">
                    <a:lnL w="9525">
                      <a:noFill/>
                    </a:lnL>
                    <a:lnR w="9525">
                      <a:noFill/>
                    </a:lnR>
                    <a:lnT w="9525">
                      <a:noFill/>
                    </a:lnT>
                    <a:lnB w="9525">
                      <a:solidFill>
                        <a:srgbClr val="D9E0EA"/>
                      </a:solidFill>
                    </a:lnB>
                    <a:solidFill>
                      <a:srgbClr val="FFFFFF"/>
                    </a:solidFill>
                  </a:tcPr>
                </a:tc>
              </a:tr>
              <a:tr h="420624">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300" b="1" dirty="0">
                          <a:solidFill>
                            <a:srgbClr val="0B1F3A"/>
                          </a:solidFill>
                          <a:latin typeface="Arial" pitchFamily="34" charset="0"/>
                          <a:ea typeface="Arial" pitchFamily="34" charset="-122"/>
                          <a:cs typeface="Arial" pitchFamily="34" charset="-120"/>
                        </a:rPr>
                        <a:t>Smart reminders</a:t>
                      </a:r>
                    </a:p>
                  </a:txBody>
                  <a:tcPr marL="137160" marR="137160" marT="64008" marB="64008" anchor="ctr">
                    <a:lnL w="9525">
                      <a:noFill/>
                    </a:lnL>
                    <a:lnR w="9525">
                      <a:noFill/>
                    </a:lnR>
                    <a:lnT w="9525">
                      <a:noFill/>
                    </a:lnT>
                    <a:lnB w="9525">
                      <a:solidFill>
                        <a:srgbClr val="D9E0EA"/>
                      </a:solidFill>
                    </a:lnB>
                    <a:solidFill>
                      <a:srgbClr val="E6ECF5"/>
                    </a:solidFill>
                  </a:tcPr>
                </a:tc>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Reminds a client only for what is still pending or missing.</a:t>
                      </a:r>
                    </a:p>
                  </a:txBody>
                  <a:tcPr marL="137160" marR="137160" marT="64008" marB="64008" anchor="ctr">
                    <a:lnL w="9525">
                      <a:noFill/>
                    </a:lnL>
                    <a:lnR w="9525">
                      <a:noFill/>
                    </a:lnR>
                    <a:lnT w="9525">
                      <a:noFill/>
                    </a:lnT>
                    <a:lnB w="9525">
                      <a:solidFill>
                        <a:srgbClr val="D9E0EA"/>
                      </a:solidFill>
                    </a:lnB>
                    <a:solidFill>
                      <a:srgbClr val="FFFFFF"/>
                    </a:solidFill>
                  </a:tcPr>
                </a:tc>
              </a:tr>
              <a:tr h="420624">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300" b="1" dirty="0">
                          <a:solidFill>
                            <a:srgbClr val="0B1F3A"/>
                          </a:solidFill>
                          <a:latin typeface="Arial" pitchFamily="34" charset="0"/>
                          <a:ea typeface="Arial" pitchFamily="34" charset="-122"/>
                          <a:cs typeface="Arial" pitchFamily="34" charset="-120"/>
                        </a:rPr>
                        <a:t>Notice alerts</a:t>
                      </a:r>
                    </a:p>
                  </a:txBody>
                  <a:tcPr marL="137160" marR="137160" marT="64008" marB="64008" anchor="ctr">
                    <a:lnL w="9525">
                      <a:noFill/>
                    </a:lnL>
                    <a:lnR w="9525">
                      <a:noFill/>
                    </a:lnR>
                    <a:lnT w="9525">
                      <a:noFill/>
                    </a:lnT>
                    <a:lnB w="9525">
                      <a:solidFill>
                        <a:srgbClr val="D9E0EA"/>
                      </a:solidFill>
                    </a:lnB>
                    <a:solidFill>
                      <a:srgbClr val="E6ECF5"/>
                    </a:solidFill>
                  </a:tcPr>
                </a:tc>
                <a:tc>
                  <a:txBody>
                    <a:bodyPr/>
                    <a:lstStyle/>
                    <a:p>
                      <a:pPr indent="0" marL="0" algn="l">
                        <a:buNone/>
                      </a:pPr>
                      <a:r>
                        <a:rPr lang="en-US" sz="1300" dirty="0">
                          <a:solidFill>
                            <a:srgbClr val="51607A"/>
                          </a:solidFill>
                          <a:latin typeface="Arial" pitchFamily="34" charset="0"/>
                          <a:ea typeface="Arial" pitchFamily="34" charset="-122"/>
                          <a:cs typeface="Arial" pitchFamily="34" charset="-120"/>
                        </a:rPr>
                        <a:t>Alerts you when a tax notice comes by email, with its date once confirmed.</a:t>
                      </a:r>
                    </a:p>
                  </a:txBody>
                  <a:tcPr marL="137160" marR="137160" marT="64008" marB="64008" anchor="ctr">
                    <a:lnL w="9525">
                      <a:noFill/>
                    </a:lnL>
                    <a:lnR w="9525">
                      <a:noFill/>
                    </a:lnR>
                    <a:lnT w="9525">
                      <a:noFill/>
                    </a:lnT>
                    <a:lnB w="9525">
                      <a:solidFill>
                        <a:srgbClr val="D9E0EA"/>
                      </a:solidFill>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200" b="1" spc="300" kern="0" dirty="0">
                <a:solidFill>
                  <a:srgbClr val="1A4BB0"/>
                </a:solidFill>
                <a:latin typeface="Arial" pitchFamily="34" charset="0"/>
                <a:ea typeface="Arial" pitchFamily="34" charset="-122"/>
                <a:cs typeface="Arial" pitchFamily="34" charset="-120"/>
              </a:rPr>
              <a:t>DAY TO DAY</a:t>
            </a:r>
            <a:endParaRPr lang="en-US" sz="1200" dirty="0"/>
          </a:p>
        </p:txBody>
      </p:sp>
      <p:sp>
        <p:nvSpPr>
          <p:cNvPr id="3" name="Text 1"/>
          <p:cNvSpPr txBox="1"/>
          <p:nvPr/>
        </p:nvSpPr>
        <p:spPr>
          <a:xfrm>
            <a:off x="548640" y="777240"/>
            <a:ext cx="11091672" cy="685800"/>
          </a:xfrm>
          <a:prstGeom prst="rect">
            <a:avLst/>
          </a:prstGeom>
          <a:noFill/>
          <a:ln/>
        </p:spPr>
        <p:txBody>
          <a:bodyPr wrap="square" lIns="0" tIns="0" rIns="0" bIns="0" rtlCol="0" anchor="t"/>
          <a:lstStyle/>
          <a:p>
            <a:pPr indent="0" marL="0">
              <a:buNone/>
            </a:pPr>
            <a:r>
              <a:rPr lang="en-US" sz="3200" b="1" dirty="0">
                <a:solidFill>
                  <a:srgbClr val="0B1F3A"/>
                </a:solidFill>
                <a:latin typeface="Arial" pitchFamily="34" charset="0"/>
                <a:ea typeface="Arial" pitchFamily="34" charset="-122"/>
                <a:cs typeface="Arial" pitchFamily="34" charset="-120"/>
              </a:rPr>
              <a:t>How it works for your firm</a:t>
            </a:r>
            <a:endParaRPr lang="en-US" sz="3200" dirty="0"/>
          </a:p>
        </p:txBody>
      </p:sp>
      <p:sp>
        <p:nvSpPr>
          <p:cNvPr id="4" name="Shape 2"/>
          <p:cNvSpPr/>
          <p:nvPr/>
        </p:nvSpPr>
        <p:spPr>
          <a:xfrm>
            <a:off x="548640" y="1920240"/>
            <a:ext cx="1815998" cy="2286000"/>
          </a:xfrm>
          <a:prstGeom prst="roundRect">
            <a:avLst>
              <a:gd name="adj" fmla="val 6042"/>
            </a:avLst>
          </a:prstGeom>
          <a:solidFill>
            <a:srgbClr val="FFFFFF"/>
          </a:solidFill>
          <a:ln w="12700">
            <a:solidFill>
              <a:srgbClr val="D9E0EA"/>
            </a:solidFill>
            <a:prstDash val="solid"/>
          </a:ln>
        </p:spPr>
        <p:txBody>
          <a:bodyPr/>
          <a:p/>
        </p:txBody>
      </p:sp>
      <p:sp>
        <p:nvSpPr>
          <p:cNvPr id="5" name="Shape 3"/>
          <p:cNvSpPr/>
          <p:nvPr/>
        </p:nvSpPr>
        <p:spPr>
          <a:xfrm>
            <a:off x="777240" y="2194560"/>
            <a:ext cx="457200" cy="457200"/>
          </a:xfrm>
          <a:prstGeom prst="ellipse">
            <a:avLst/>
          </a:prstGeom>
          <a:solidFill>
            <a:srgbClr val="C2D3F7"/>
          </a:solidFill>
          <a:ln/>
        </p:spPr>
        <p:txBody>
          <a:bodyPr/>
          <a:p/>
        </p:txBody>
      </p:sp>
      <p:sp>
        <p:nvSpPr>
          <p:cNvPr id="6" name="Text 4"/>
          <p:cNvSpPr txBox="1"/>
          <p:nvPr/>
        </p:nvSpPr>
        <p:spPr>
          <a:xfrm>
            <a:off x="777240" y="2194560"/>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777240" y="2834640"/>
            <a:ext cx="1358798" cy="1234440"/>
          </a:xfrm>
          <a:prstGeom prst="rect">
            <a:avLst/>
          </a:prstGeom>
          <a:noFill/>
          <a:ln/>
        </p:spPr>
        <p:txBody>
          <a:bodyPr wrap="square" lIns="0" tIns="0" rIns="0" bIns="0" rtlCol="0" anchor="t"/>
          <a:lstStyle/>
          <a:p>
            <a:pPr indent="0" marL="0">
              <a:buNone/>
            </a:pPr>
            <a:r>
              <a:rPr lang="en-US" sz="1500" b="1" dirty="0">
                <a:solidFill>
                  <a:srgbClr val="0B1F3A"/>
                </a:solidFill>
                <a:latin typeface="Arial" pitchFamily="34" charset="0"/>
                <a:ea typeface="Arial" pitchFamily="34" charset="-122"/>
                <a:cs typeface="Arial" pitchFamily="34" charset="-120"/>
              </a:rPr>
              <a:t>Client emails come in</a:t>
            </a:r>
            <a:endParaRPr lang="en-US" sz="1500" dirty="0"/>
          </a:p>
        </p:txBody>
      </p:sp>
      <p:sp>
        <p:nvSpPr>
          <p:cNvPr id="8" name="Shape 6"/>
          <p:cNvSpPr/>
          <p:nvPr/>
        </p:nvSpPr>
        <p:spPr>
          <a:xfrm>
            <a:off x="2456078" y="2926080"/>
            <a:ext cx="320040" cy="274320"/>
          </a:xfrm>
          <a:prstGeom prst="rightArrow">
            <a:avLst/>
          </a:prstGeom>
          <a:solidFill>
            <a:srgbClr val="1A4BB0"/>
          </a:solidFill>
          <a:ln/>
        </p:spPr>
        <p:txBody>
          <a:bodyPr/>
          <a:p/>
        </p:txBody>
      </p:sp>
      <p:sp>
        <p:nvSpPr>
          <p:cNvPr id="9" name="Shape 7"/>
          <p:cNvSpPr/>
          <p:nvPr/>
        </p:nvSpPr>
        <p:spPr>
          <a:xfrm>
            <a:off x="2867558" y="1920240"/>
            <a:ext cx="1815998" cy="2286000"/>
          </a:xfrm>
          <a:prstGeom prst="roundRect">
            <a:avLst>
              <a:gd name="adj" fmla="val 6042"/>
            </a:avLst>
          </a:prstGeom>
          <a:solidFill>
            <a:srgbClr val="FFFFFF"/>
          </a:solidFill>
          <a:ln w="12700">
            <a:solidFill>
              <a:srgbClr val="D9E0EA"/>
            </a:solidFill>
            <a:prstDash val="solid"/>
          </a:ln>
        </p:spPr>
        <p:txBody>
          <a:bodyPr/>
          <a:p/>
        </p:txBody>
      </p:sp>
      <p:sp>
        <p:nvSpPr>
          <p:cNvPr id="10" name="Shape 8"/>
          <p:cNvSpPr/>
          <p:nvPr/>
        </p:nvSpPr>
        <p:spPr>
          <a:xfrm>
            <a:off x="3096158" y="2194560"/>
            <a:ext cx="457200" cy="457200"/>
          </a:xfrm>
          <a:prstGeom prst="ellipse">
            <a:avLst/>
          </a:prstGeom>
          <a:solidFill>
            <a:srgbClr val="C2D3F7"/>
          </a:solidFill>
          <a:ln/>
        </p:spPr>
        <p:txBody>
          <a:bodyPr/>
          <a:p/>
        </p:txBody>
      </p:sp>
      <p:sp>
        <p:nvSpPr>
          <p:cNvPr id="11" name="Text 9"/>
          <p:cNvSpPr txBox="1"/>
          <p:nvPr/>
        </p:nvSpPr>
        <p:spPr>
          <a:xfrm>
            <a:off x="3096158" y="2194560"/>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3096158" y="2834640"/>
            <a:ext cx="1358798" cy="1234440"/>
          </a:xfrm>
          <a:prstGeom prst="rect">
            <a:avLst/>
          </a:prstGeom>
          <a:noFill/>
          <a:ln/>
        </p:spPr>
        <p:txBody>
          <a:bodyPr wrap="square" lIns="0" tIns="0" rIns="0" bIns="0" rtlCol="0" anchor="t"/>
          <a:lstStyle/>
          <a:p>
            <a:pPr indent="0" marL="0">
              <a:buNone/>
            </a:pPr>
            <a:r>
              <a:rPr lang="en-US" sz="1500" b="1" dirty="0">
                <a:solidFill>
                  <a:srgbClr val="0B1F3A"/>
                </a:solidFill>
                <a:latin typeface="Arial" pitchFamily="34" charset="0"/>
                <a:ea typeface="Arial" pitchFamily="34" charset="-122"/>
                <a:cs typeface="Arial" pitchFamily="34" charset="-120"/>
              </a:rPr>
              <a:t>InboxCA sorts and saves them</a:t>
            </a:r>
            <a:endParaRPr lang="en-US" sz="1500" dirty="0"/>
          </a:p>
        </p:txBody>
      </p:sp>
      <p:sp>
        <p:nvSpPr>
          <p:cNvPr id="13" name="Shape 11"/>
          <p:cNvSpPr/>
          <p:nvPr/>
        </p:nvSpPr>
        <p:spPr>
          <a:xfrm>
            <a:off x="4774997" y="2926080"/>
            <a:ext cx="320040" cy="274320"/>
          </a:xfrm>
          <a:prstGeom prst="rightArrow">
            <a:avLst/>
          </a:prstGeom>
          <a:solidFill>
            <a:srgbClr val="1A4BB0"/>
          </a:solidFill>
          <a:ln/>
        </p:spPr>
        <p:txBody>
          <a:bodyPr/>
          <a:p/>
        </p:txBody>
      </p:sp>
      <p:sp>
        <p:nvSpPr>
          <p:cNvPr id="14" name="Shape 12"/>
          <p:cNvSpPr/>
          <p:nvPr/>
        </p:nvSpPr>
        <p:spPr>
          <a:xfrm>
            <a:off x="5186477" y="1920240"/>
            <a:ext cx="1815998" cy="2286000"/>
          </a:xfrm>
          <a:prstGeom prst="roundRect">
            <a:avLst>
              <a:gd name="adj" fmla="val 6042"/>
            </a:avLst>
          </a:prstGeom>
          <a:solidFill>
            <a:srgbClr val="FFFFFF"/>
          </a:solidFill>
          <a:ln w="12700">
            <a:solidFill>
              <a:srgbClr val="D9E0EA"/>
            </a:solidFill>
            <a:prstDash val="solid"/>
          </a:ln>
        </p:spPr>
        <p:txBody>
          <a:bodyPr/>
          <a:p/>
        </p:txBody>
      </p:sp>
      <p:sp>
        <p:nvSpPr>
          <p:cNvPr id="15" name="Shape 13"/>
          <p:cNvSpPr/>
          <p:nvPr/>
        </p:nvSpPr>
        <p:spPr>
          <a:xfrm>
            <a:off x="5415077" y="2194560"/>
            <a:ext cx="457200" cy="457200"/>
          </a:xfrm>
          <a:prstGeom prst="ellipse">
            <a:avLst/>
          </a:prstGeom>
          <a:solidFill>
            <a:srgbClr val="C2D3F7"/>
          </a:solidFill>
          <a:ln/>
        </p:spPr>
        <p:txBody>
          <a:bodyPr/>
          <a:p/>
        </p:txBody>
      </p:sp>
      <p:sp>
        <p:nvSpPr>
          <p:cNvPr id="16" name="Text 14"/>
          <p:cNvSpPr txBox="1"/>
          <p:nvPr/>
        </p:nvSpPr>
        <p:spPr>
          <a:xfrm>
            <a:off x="5415077" y="2194560"/>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5415077" y="2834640"/>
            <a:ext cx="1358798" cy="1234440"/>
          </a:xfrm>
          <a:prstGeom prst="rect">
            <a:avLst/>
          </a:prstGeom>
          <a:noFill/>
          <a:ln/>
        </p:spPr>
        <p:txBody>
          <a:bodyPr wrap="square" lIns="0" tIns="0" rIns="0" bIns="0" rtlCol="0" anchor="t"/>
          <a:lstStyle/>
          <a:p>
            <a:pPr indent="0" marL="0">
              <a:buNone/>
            </a:pPr>
            <a:r>
              <a:rPr lang="en-US" sz="1500" b="1" dirty="0">
                <a:solidFill>
                  <a:srgbClr val="0B1F3A"/>
                </a:solidFill>
                <a:latin typeface="Arial" pitchFamily="34" charset="0"/>
                <a:ea typeface="Arial" pitchFamily="34" charset="-122"/>
                <a:cs typeface="Arial" pitchFamily="34" charset="-120"/>
              </a:rPr>
              <a:t>Numbers go into GST and ITR forms</a:t>
            </a:r>
            <a:endParaRPr lang="en-US" sz="1500" dirty="0"/>
          </a:p>
        </p:txBody>
      </p:sp>
      <p:sp>
        <p:nvSpPr>
          <p:cNvPr id="18" name="Shape 16"/>
          <p:cNvSpPr/>
          <p:nvPr/>
        </p:nvSpPr>
        <p:spPr>
          <a:xfrm>
            <a:off x="7093915" y="2926080"/>
            <a:ext cx="320040" cy="274320"/>
          </a:xfrm>
          <a:prstGeom prst="rightArrow">
            <a:avLst/>
          </a:prstGeom>
          <a:solidFill>
            <a:srgbClr val="1A4BB0"/>
          </a:solidFill>
          <a:ln/>
        </p:spPr>
        <p:txBody>
          <a:bodyPr/>
          <a:p/>
        </p:txBody>
      </p:sp>
      <p:sp>
        <p:nvSpPr>
          <p:cNvPr id="19" name="Shape 17"/>
          <p:cNvSpPr/>
          <p:nvPr/>
        </p:nvSpPr>
        <p:spPr>
          <a:xfrm>
            <a:off x="7505395" y="1920240"/>
            <a:ext cx="1815998" cy="2286000"/>
          </a:xfrm>
          <a:prstGeom prst="roundRect">
            <a:avLst>
              <a:gd name="adj" fmla="val 6042"/>
            </a:avLst>
          </a:prstGeom>
          <a:solidFill>
            <a:srgbClr val="FFFFFF"/>
          </a:solidFill>
          <a:ln w="12700">
            <a:solidFill>
              <a:srgbClr val="D9E0EA"/>
            </a:solidFill>
            <a:prstDash val="solid"/>
          </a:ln>
        </p:spPr>
        <p:txBody>
          <a:bodyPr/>
          <a:p/>
        </p:txBody>
      </p:sp>
      <p:sp>
        <p:nvSpPr>
          <p:cNvPr id="20" name="Shape 18"/>
          <p:cNvSpPr/>
          <p:nvPr/>
        </p:nvSpPr>
        <p:spPr>
          <a:xfrm>
            <a:off x="7733995" y="2194560"/>
            <a:ext cx="457200" cy="457200"/>
          </a:xfrm>
          <a:prstGeom prst="ellipse">
            <a:avLst/>
          </a:prstGeom>
          <a:solidFill>
            <a:srgbClr val="C2D3F7"/>
          </a:solidFill>
          <a:ln/>
        </p:spPr>
        <p:txBody>
          <a:bodyPr/>
          <a:p/>
        </p:txBody>
      </p:sp>
      <p:sp>
        <p:nvSpPr>
          <p:cNvPr id="21" name="Text 19"/>
          <p:cNvSpPr txBox="1"/>
          <p:nvPr/>
        </p:nvSpPr>
        <p:spPr>
          <a:xfrm>
            <a:off x="7733995" y="2194560"/>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7733995" y="2834640"/>
            <a:ext cx="1358798" cy="1234440"/>
          </a:xfrm>
          <a:prstGeom prst="rect">
            <a:avLst/>
          </a:prstGeom>
          <a:noFill/>
          <a:ln/>
        </p:spPr>
        <p:txBody>
          <a:bodyPr wrap="square" lIns="0" tIns="0" rIns="0" bIns="0" rtlCol="0" anchor="t"/>
          <a:lstStyle/>
          <a:p>
            <a:pPr indent="0" marL="0">
              <a:buNone/>
            </a:pPr>
            <a:r>
              <a:rPr lang="en-US" sz="1500" b="1" dirty="0">
                <a:solidFill>
                  <a:srgbClr val="0B1F3A"/>
                </a:solidFill>
                <a:latin typeface="Arial" pitchFamily="34" charset="0"/>
                <a:ea typeface="Arial" pitchFamily="34" charset="-122"/>
                <a:cs typeface="Arial" pitchFamily="34" charset="-120"/>
              </a:rPr>
              <a:t>Your team checks, approves and files</a:t>
            </a:r>
            <a:endParaRPr lang="en-US" sz="1500" dirty="0"/>
          </a:p>
        </p:txBody>
      </p:sp>
      <p:sp>
        <p:nvSpPr>
          <p:cNvPr id="23" name="Shape 21"/>
          <p:cNvSpPr/>
          <p:nvPr/>
        </p:nvSpPr>
        <p:spPr>
          <a:xfrm>
            <a:off x="9412834" y="2926080"/>
            <a:ext cx="320040" cy="274320"/>
          </a:xfrm>
          <a:prstGeom prst="rightArrow">
            <a:avLst/>
          </a:prstGeom>
          <a:solidFill>
            <a:srgbClr val="1A4BB0"/>
          </a:solidFill>
          <a:ln/>
        </p:spPr>
        <p:txBody>
          <a:bodyPr/>
          <a:p/>
        </p:txBody>
      </p:sp>
      <p:sp>
        <p:nvSpPr>
          <p:cNvPr id="24" name="Shape 22"/>
          <p:cNvSpPr/>
          <p:nvPr/>
        </p:nvSpPr>
        <p:spPr>
          <a:xfrm>
            <a:off x="9824314" y="1920240"/>
            <a:ext cx="1815998" cy="2286000"/>
          </a:xfrm>
          <a:prstGeom prst="roundRect">
            <a:avLst>
              <a:gd name="adj" fmla="val 6042"/>
            </a:avLst>
          </a:prstGeom>
          <a:solidFill>
            <a:srgbClr val="0B1F3A"/>
          </a:solidFill>
          <a:ln/>
        </p:spPr>
        <p:txBody>
          <a:bodyPr/>
          <a:p/>
        </p:txBody>
      </p:sp>
      <p:sp>
        <p:nvSpPr>
          <p:cNvPr id="25" name="Shape 23"/>
          <p:cNvSpPr/>
          <p:nvPr/>
        </p:nvSpPr>
        <p:spPr>
          <a:xfrm>
            <a:off x="10052914" y="2194560"/>
            <a:ext cx="457200" cy="457200"/>
          </a:xfrm>
          <a:prstGeom prst="ellipse">
            <a:avLst/>
          </a:prstGeom>
          <a:solidFill>
            <a:srgbClr val="C2D3F7"/>
          </a:solidFill>
          <a:ln/>
        </p:spPr>
        <p:txBody>
          <a:bodyPr/>
          <a:p/>
        </p:txBody>
      </p:sp>
      <p:sp>
        <p:nvSpPr>
          <p:cNvPr id="26" name="Text 24"/>
          <p:cNvSpPr txBox="1"/>
          <p:nvPr/>
        </p:nvSpPr>
        <p:spPr>
          <a:xfrm>
            <a:off x="10052914" y="2194560"/>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Arial" pitchFamily="34" charset="0"/>
                <a:ea typeface="Arial" pitchFamily="34" charset="-122"/>
                <a:cs typeface="Arial" pitchFamily="34" charset="-120"/>
              </a:rPr>
              <a:t>5</a:t>
            </a:r>
            <a:endParaRPr lang="en-US" sz="1600" dirty="0"/>
          </a:p>
        </p:txBody>
      </p:sp>
      <p:sp>
        <p:nvSpPr>
          <p:cNvPr id="27" name="Text 25"/>
          <p:cNvSpPr txBox="1"/>
          <p:nvPr/>
        </p:nvSpPr>
        <p:spPr>
          <a:xfrm>
            <a:off x="10052914" y="2834640"/>
            <a:ext cx="1358798" cy="1234440"/>
          </a:xfrm>
          <a:prstGeom prst="rect">
            <a:avLst/>
          </a:prstGeom>
          <a:noFill/>
          <a:ln/>
        </p:spPr>
        <p:txBody>
          <a:bodyPr wrap="square" lIns="0" tIns="0" rIns="0" bIns="0" rtlCol="0" anchor="t"/>
          <a:lstStyle/>
          <a:p>
            <a:pPr indent="0" marL="0">
              <a:buNone/>
            </a:pPr>
            <a:r>
              <a:rPr lang="en-US" sz="1500" b="1" dirty="0">
                <a:solidFill>
                  <a:srgbClr val="F2F5F9"/>
                </a:solidFill>
                <a:latin typeface="Arial" pitchFamily="34" charset="0"/>
                <a:ea typeface="Arial" pitchFamily="34" charset="-122"/>
                <a:cs typeface="Arial" pitchFamily="34" charset="-120"/>
              </a:rPr>
              <a:t>The client gets proof of filing</a:t>
            </a:r>
            <a:endParaRPr lang="en-US" sz="1500" dirty="0"/>
          </a:p>
        </p:txBody>
      </p:sp>
      <p:sp>
        <p:nvSpPr>
          <p:cNvPr id="28" name="Shape 26"/>
          <p:cNvSpPr/>
          <p:nvPr/>
        </p:nvSpPr>
        <p:spPr>
          <a:xfrm>
            <a:off x="548640" y="4617720"/>
            <a:ext cx="11091672" cy="1188720"/>
          </a:xfrm>
          <a:prstGeom prst="roundRect">
            <a:avLst>
              <a:gd name="adj" fmla="val 9231"/>
            </a:avLst>
          </a:prstGeom>
          <a:solidFill>
            <a:srgbClr val="E6ECF5"/>
          </a:solidFill>
          <a:ln/>
        </p:spPr>
        <p:txBody>
          <a:bodyPr/>
          <a:p/>
        </p:txBody>
      </p:sp>
      <p:sp>
        <p:nvSpPr>
          <p:cNvPr id="29" name="Shape 27"/>
          <p:cNvSpPr/>
          <p:nvPr/>
        </p:nvSpPr>
        <p:spPr>
          <a:xfrm>
            <a:off x="822960" y="4846320"/>
            <a:ext cx="731520" cy="731520"/>
          </a:xfrm>
          <a:prstGeom prst="ellipse">
            <a:avLst/>
          </a:prstGeom>
          <a:solidFill>
            <a:srgbClr val="E3EAF5"/>
          </a:solidFill>
          <a:ln/>
        </p:spPr>
        <p:txBody>
          <a:bodyPr/>
          <a:p/>
        </p:txBody>
      </p:sp>
      <p:pic>
        <p:nvPicPr>
          <p:cNvPr id="30" name="Image 0" descr="preencoded.png">    </p:cNvPr>
          <p:cNvPicPr>
            <a:picLocks noChangeAspect="1"/>
          </p:cNvPicPr>
          <p:nvPr/>
        </p:nvPicPr>
        <p:blipFill>
          <a:blip r:embed="rId1"/>
          <a:stretch>
            <a:fillRect/>
          </a:stretch>
        </p:blipFill>
        <p:spPr>
          <a:xfrm>
            <a:off x="1005840" y="5029200"/>
            <a:ext cx="365760" cy="365760"/>
          </a:xfrm>
          <a:prstGeom prst="rect">
            <a:avLst/>
          </a:prstGeom>
        </p:spPr>
      </p:pic>
      <p:sp>
        <p:nvSpPr>
          <p:cNvPr id="31" name="Text 28"/>
          <p:cNvSpPr txBox="1"/>
          <p:nvPr/>
        </p:nvSpPr>
        <p:spPr>
          <a:xfrm>
            <a:off x="1783080" y="4892040"/>
            <a:ext cx="9537192" cy="731520"/>
          </a:xfrm>
          <a:prstGeom prst="rect">
            <a:avLst/>
          </a:prstGeom>
          <a:noFill/>
          <a:ln/>
        </p:spPr>
        <p:txBody>
          <a:bodyPr wrap="square" lIns="0" tIns="0" rIns="0" bIns="0" rtlCol="0" anchor="ctr"/>
          <a:lstStyle/>
          <a:p>
            <a:pPr indent="0" marL="0">
              <a:buNone/>
            </a:pPr>
            <a:r>
              <a:rPr lang="en-US" sz="1600" dirty="0">
                <a:solidFill>
                  <a:srgbClr val="0B1F3A"/>
                </a:solidFill>
                <a:latin typeface="Arial" pitchFamily="34" charset="0"/>
                <a:ea typeface="Arial" pitchFamily="34" charset="-122"/>
                <a:cs typeface="Arial" pitchFamily="34" charset="-120"/>
              </a:rPr>
              <a:t>Sorting, saving and typing happen on their own. Each form is saved in the client's folder. Your team corrects it, approves it and downloads it for TaxPower, Spectrum or the government portal.</a:t>
            </a:r>
            <a:endParaRPr lang="en-US" sz="1600" dirty="0"/>
          </a:p>
        </p:txBody>
      </p:sp>
      <p:sp>
        <p:nvSpPr>
          <p:cNvPr id="32" name="Text 29"/>
          <p:cNvSpPr txBox="1"/>
          <p:nvPr/>
        </p:nvSpPr>
        <p:spPr>
          <a:xfrm>
            <a:off x="548640" y="6355080"/>
            <a:ext cx="9144000" cy="274320"/>
          </a:xfrm>
          <a:prstGeom prst="rect">
            <a:avLst/>
          </a:prstGeom>
          <a:noFill/>
          <a:ln/>
        </p:spPr>
        <p:txBody>
          <a:bodyPr wrap="square" lIns="0" tIns="0" rIns="0" bIns="0" rtlCol="0" anchor="t"/>
          <a:lstStyle/>
          <a:p>
            <a:pPr indent="0" marL="0">
              <a:buNone/>
            </a:pPr>
            <a:r>
              <a:rPr lang="en-US" sz="1000" dirty="0">
                <a:solidFill>
                  <a:srgbClr val="51607A"/>
                </a:solidFill>
                <a:latin typeface="Arial" pitchFamily="34" charset="0"/>
                <a:ea typeface="Arial" pitchFamily="34" charset="-122"/>
                <a:cs typeface="Arial" pitchFamily="34" charset="-120"/>
              </a:rPr>
              <a:t>InboxCA · a product by Orelu · Prepared for CA Paresh</a:t>
            </a:r>
            <a:endParaRPr lang="en-US" sz="1000" dirty="0"/>
          </a:p>
        </p:txBody>
      </p:sp>
      <p:sp>
        <p:nvSpPr>
          <p:cNvPr id="33" name="Text 30"/>
          <p:cNvSpPr txBox="1"/>
          <p:nvPr/>
        </p:nvSpPr>
        <p:spPr>
          <a:xfrm>
            <a:off x="10908792" y="6355080"/>
            <a:ext cx="731520" cy="274320"/>
          </a:xfrm>
          <a:prstGeom prst="rect">
            <a:avLst/>
          </a:prstGeom>
          <a:noFill/>
          <a:ln/>
        </p:spPr>
        <p:txBody>
          <a:bodyPr wrap="square" lIns="0" tIns="0" rIns="0" bIns="0" rtlCol="0" anchor="t"/>
          <a:lstStyle/>
          <a:p>
            <a:pPr algn="r" indent="0" marL="0">
              <a:buNone/>
            </a:pPr>
            <a:r>
              <a:rPr lang="en-US" sz="1000" dirty="0">
                <a:solidFill>
                  <a:srgbClr val="51607A"/>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200" b="1" spc="300" kern="0" dirty="0">
                <a:solidFill>
                  <a:srgbClr val="1A4BB0"/>
                </a:solidFill>
                <a:latin typeface="Arial" pitchFamily="34" charset="0"/>
                <a:ea typeface="Arial" pitchFamily="34" charset="-122"/>
                <a:cs typeface="Arial" pitchFamily="34" charset="-120"/>
              </a:rPr>
              <a:t>WHAT YOUR CLIENTS SEE</a:t>
            </a:r>
            <a:endParaRPr lang="en-US" sz="1200" dirty="0"/>
          </a:p>
        </p:txBody>
      </p:sp>
      <p:sp>
        <p:nvSpPr>
          <p:cNvPr id="3" name="Text 1"/>
          <p:cNvSpPr txBox="1"/>
          <p:nvPr/>
        </p:nvSpPr>
        <p:spPr>
          <a:xfrm>
            <a:off x="548640" y="777240"/>
            <a:ext cx="11091672" cy="685800"/>
          </a:xfrm>
          <a:prstGeom prst="rect">
            <a:avLst/>
          </a:prstGeom>
          <a:noFill/>
          <a:ln/>
        </p:spPr>
        <p:txBody>
          <a:bodyPr wrap="square" lIns="0" tIns="0" rIns="0" bIns="0" rtlCol="0" anchor="t"/>
          <a:lstStyle/>
          <a:p>
            <a:pPr indent="0" marL="0">
              <a:buNone/>
            </a:pPr>
            <a:r>
              <a:rPr lang="en-US" sz="3200" b="1" dirty="0">
                <a:solidFill>
                  <a:srgbClr val="0B1F3A"/>
                </a:solidFill>
                <a:latin typeface="Arial" pitchFamily="34" charset="0"/>
                <a:ea typeface="Arial" pitchFamily="34" charset="-122"/>
                <a:cs typeface="Arial" pitchFamily="34" charset="-120"/>
              </a:rPr>
              <a:t>Your clients hear from your firm by email</a:t>
            </a:r>
            <a:endParaRPr lang="en-US" sz="3200" dirty="0"/>
          </a:p>
        </p:txBody>
      </p:sp>
      <p:sp>
        <p:nvSpPr>
          <p:cNvPr id="4" name="Shape 2"/>
          <p:cNvSpPr/>
          <p:nvPr/>
        </p:nvSpPr>
        <p:spPr>
          <a:xfrm>
            <a:off x="1005840" y="1691640"/>
            <a:ext cx="3291840" cy="4069080"/>
          </a:xfrm>
          <a:prstGeom prst="roundRect">
            <a:avLst>
              <a:gd name="adj" fmla="val 8333"/>
            </a:avLst>
          </a:prstGeom>
          <a:solidFill>
            <a:srgbClr val="0B1F3A"/>
          </a:solidFill>
          <a:ln/>
        </p:spPr>
        <p:txBody>
          <a:bodyPr/>
          <a:p/>
        </p:txBody>
      </p:sp>
      <p:sp>
        <p:nvSpPr>
          <p:cNvPr id="5" name="Shape 3"/>
          <p:cNvSpPr/>
          <p:nvPr/>
        </p:nvSpPr>
        <p:spPr>
          <a:xfrm>
            <a:off x="1115568" y="1801368"/>
            <a:ext cx="3072384" cy="3849624"/>
          </a:xfrm>
          <a:prstGeom prst="roundRect">
            <a:avLst>
              <a:gd name="adj" fmla="val 6548"/>
            </a:avLst>
          </a:prstGeom>
          <a:solidFill>
            <a:srgbClr val="E9EEF5"/>
          </a:solidFill>
          <a:ln/>
        </p:spPr>
        <p:txBody>
          <a:bodyPr/>
          <a:p/>
        </p:txBody>
      </p:sp>
      <p:sp>
        <p:nvSpPr>
          <p:cNvPr id="6" name="Shape 4"/>
          <p:cNvSpPr/>
          <p:nvPr/>
        </p:nvSpPr>
        <p:spPr>
          <a:xfrm>
            <a:off x="1115568" y="1965960"/>
            <a:ext cx="3072384" cy="457200"/>
          </a:xfrm>
          <a:prstGeom prst="rect">
            <a:avLst/>
          </a:prstGeom>
          <a:solidFill>
            <a:srgbClr val="13294B"/>
          </a:solidFill>
          <a:ln/>
        </p:spPr>
        <p:txBody>
          <a:bodyPr/>
          <a:p/>
        </p:txBody>
      </p:sp>
      <p:sp>
        <p:nvSpPr>
          <p:cNvPr id="7" name="Text 5"/>
          <p:cNvSpPr txBox="1"/>
          <p:nvPr/>
        </p:nvSpPr>
        <p:spPr>
          <a:xfrm>
            <a:off x="1325880" y="1965960"/>
            <a:ext cx="2651760" cy="457200"/>
          </a:xfrm>
          <a:prstGeom prst="rect">
            <a:avLst/>
          </a:prstGeom>
          <a:noFill/>
          <a:ln/>
        </p:spPr>
        <p:txBody>
          <a:bodyPr wrap="square" lIns="0" tIns="0" rIns="0" bIns="0" rtlCol="0" anchor="ctr"/>
          <a:lstStyle/>
          <a:p>
            <a:pPr indent="0" marL="0">
              <a:buNone/>
            </a:pPr>
            <a:r>
              <a:rPr lang="en-US" sz="1200" b="1" dirty="0">
                <a:solidFill>
                  <a:srgbClr val="F2F5F9"/>
                </a:solidFill>
                <a:latin typeface="Arial" pitchFamily="34" charset="0"/>
                <a:ea typeface="Arial" pitchFamily="34" charset="-122"/>
                <a:cs typeface="Arial" pitchFamily="34" charset="-120"/>
              </a:rPr>
              <a:t>From your firm's email</a:t>
            </a:r>
            <a:endParaRPr lang="en-US" sz="1200" dirty="0"/>
          </a:p>
        </p:txBody>
      </p:sp>
      <p:sp>
        <p:nvSpPr>
          <p:cNvPr id="8" name="Email card 8"/>
          <p:cNvSpPr/>
          <p:nvPr/>
        </p:nvSpPr>
        <p:spPr>
          <a:xfrm>
            <a:off x="1280160" y="2560320"/>
            <a:ext cx="2743200" cy="877824"/>
          </a:xfrm>
          <a:prstGeom prst="roundRect">
            <a:avLst>
              <a:gd name="adj" fmla="val 8333"/>
            </a:avLst>
          </a:prstGeom>
          <a:solidFill>
            <a:srgbClr val="FFFFFF"/>
          </a:solidFill>
          <a:ln/>
        </p:spPr>
        <p:txBody>
          <a:bodyPr/>
          <a:p/>
        </p:txBody>
      </p:sp>
      <p:sp>
        <p:nvSpPr>
          <p:cNvPr id="9" name="Email text 9"/>
          <p:cNvSpPr txBox="1"/>
          <p:nvPr/>
        </p:nvSpPr>
        <p:spPr>
          <a:xfrm>
            <a:off x="1371600" y="2615184"/>
            <a:ext cx="2560320" cy="768096"/>
          </a:xfrm>
          <a:prstGeom prst="rect">
            <a:avLst/>
          </a:prstGeom>
          <a:noFill/>
          <a:ln/>
        </p:spPr>
        <p:txBody>
          <a:bodyPr wrap="square" lIns="0" tIns="0" rIns="0" bIns="0" rtlCol="0" anchor="t"/>
          <a:lstStyle/>
          <a:p>
            <a:pPr indent="0" marL="0">
              <a:buNone/>
            </a:pPr>
            <a:r>
              <a:rPr lang="en-US" sz="900" b="1" dirty="0">
                <a:solidFill>
                  <a:srgbClr val="51607A"/>
                </a:solidFill>
                <a:latin typeface="Arial" pitchFamily="34" charset="0"/>
                <a:ea typeface="Arial" pitchFamily="34" charset="-122"/>
                <a:cs typeface="Arial" pitchFamily="34" charset="-120"/>
              </a:rPr>
              <a:t>To: Mehta ji  ·  Reminder</a:t>
            </a:r>
          </a:p>
          <a:p>
            <a:pPr indent="0" marL="0">
              <a:buNone/>
            </a:pPr>
            <a:r>
              <a:rPr lang="en-US" sz="1000" dirty="0">
                <a:solidFill>
                  <a:srgbClr val="0B1F3A"/>
                </a:solidFill>
                <a:latin typeface="Arial" pitchFamily="34" charset="0"/>
                <a:ea typeface="Arial" pitchFamily="34" charset="-122"/>
                <a:cs typeface="Arial" pitchFamily="34" charset="-120"/>
              </a:rPr>
              <a:t>Hello Mehta ji, GSTR-3B for September is due on 20 Oct. We have your sales bills; only the purchase bills are still needed: [upload link]</a:t>
            </a:r>
            <a:endParaRPr lang="en-US" sz="1000" dirty="0"/>
          </a:p>
        </p:txBody>
      </p:sp>
      <p:sp>
        <p:nvSpPr>
          <p:cNvPr id="10" name="Email card 10"/>
          <p:cNvSpPr/>
          <p:nvPr/>
        </p:nvSpPr>
        <p:spPr>
          <a:xfrm>
            <a:off x="1280160" y="3511296"/>
            <a:ext cx="2743200" cy="566928"/>
          </a:xfrm>
          <a:prstGeom prst="roundRect">
            <a:avLst>
              <a:gd name="adj" fmla="val 12903"/>
            </a:avLst>
          </a:prstGeom>
          <a:solidFill>
            <a:srgbClr val="F2F5F9"/>
          </a:solidFill>
          <a:ln/>
        </p:spPr>
        <p:txBody>
          <a:bodyPr/>
          <a:p/>
        </p:txBody>
      </p:sp>
      <p:sp>
        <p:nvSpPr>
          <p:cNvPr id="11" name="Email text 11"/>
          <p:cNvSpPr txBox="1"/>
          <p:nvPr/>
        </p:nvSpPr>
        <p:spPr>
          <a:xfrm>
            <a:off x="1371600" y="3566160"/>
            <a:ext cx="2560320" cy="457200"/>
          </a:xfrm>
          <a:prstGeom prst="rect">
            <a:avLst/>
          </a:prstGeom>
          <a:noFill/>
          <a:ln/>
        </p:spPr>
        <p:txBody>
          <a:bodyPr wrap="square" lIns="0" tIns="0" rIns="0" bIns="0" rtlCol="0" anchor="t"/>
          <a:lstStyle/>
          <a:p>
            <a:pPr indent="0" marL="0">
              <a:buNone/>
            </a:pPr>
            <a:r>
              <a:rPr lang="en-US" sz="900" b="1" dirty="0">
                <a:solidFill>
                  <a:srgbClr val="51607A"/>
                </a:solidFill>
                <a:latin typeface="Arial" pitchFamily="34" charset="0"/>
                <a:ea typeface="Arial" pitchFamily="34" charset="-122"/>
                <a:cs typeface="Arial" pitchFamily="34" charset="-120"/>
              </a:rPr>
              <a:t>From: Mehta ji</a:t>
            </a:r>
          </a:p>
          <a:p>
            <a:pPr indent="0" marL="0">
              <a:buNone/>
            </a:pPr>
            <a:r>
              <a:rPr lang="en-US" sz="1000" dirty="0">
                <a:solidFill>
                  <a:srgbClr val="0B1F3A"/>
                </a:solidFill>
                <a:latin typeface="Arial" pitchFamily="34" charset="0"/>
                <a:ea typeface="Arial" pitchFamily="34" charset="-122"/>
                <a:cs typeface="Arial" pitchFamily="34" charset="-120"/>
              </a:rPr>
              <a:t>Please send last year's ITR acknowledgement.</a:t>
            </a:r>
            <a:endParaRPr lang="en-US" sz="1000" dirty="0"/>
          </a:p>
        </p:txBody>
      </p:sp>
      <p:sp>
        <p:nvSpPr>
          <p:cNvPr id="12" name="Email card 12"/>
          <p:cNvSpPr/>
          <p:nvPr/>
        </p:nvSpPr>
        <p:spPr>
          <a:xfrm>
            <a:off x="1280160" y="4151376"/>
            <a:ext cx="2743200" cy="566928"/>
          </a:xfrm>
          <a:prstGeom prst="roundRect">
            <a:avLst>
              <a:gd name="adj" fmla="val 12903"/>
            </a:avLst>
          </a:prstGeom>
          <a:solidFill>
            <a:srgbClr val="FFFFFF"/>
          </a:solidFill>
          <a:ln/>
        </p:spPr>
        <p:txBody>
          <a:bodyPr/>
          <a:p/>
        </p:txBody>
      </p:sp>
      <p:sp>
        <p:nvSpPr>
          <p:cNvPr id="13" name="Email text 13"/>
          <p:cNvSpPr txBox="1"/>
          <p:nvPr/>
        </p:nvSpPr>
        <p:spPr>
          <a:xfrm>
            <a:off x="1371600" y="4206240"/>
            <a:ext cx="2560320" cy="457200"/>
          </a:xfrm>
          <a:prstGeom prst="rect">
            <a:avLst/>
          </a:prstGeom>
          <a:noFill/>
          <a:ln/>
        </p:spPr>
        <p:txBody>
          <a:bodyPr wrap="square" lIns="0" tIns="0" rIns="0" bIns="0" rtlCol="0" anchor="t"/>
          <a:lstStyle/>
          <a:p>
            <a:pPr indent="0" marL="0">
              <a:buNone/>
            </a:pPr>
            <a:r>
              <a:rPr lang="en-US" sz="900" b="1" dirty="0">
                <a:solidFill>
                  <a:srgbClr val="51607A"/>
                </a:solidFill>
                <a:latin typeface="Arial" pitchFamily="34" charset="0"/>
                <a:ea typeface="Arial" pitchFamily="34" charset="-122"/>
                <a:cs typeface="Arial" pitchFamily="34" charset="-120"/>
              </a:rPr>
              <a:t>To: Mehta ji  ·  Re: ITR acknowledgement</a:t>
            </a:r>
          </a:p>
          <a:p>
            <a:pPr indent="0" marL="0">
              <a:buNone/>
            </a:pPr>
            <a:r>
              <a:rPr lang="en-US" sz="1000" dirty="0">
                <a:solidFill>
                  <a:srgbClr val="0B1F3A"/>
                </a:solidFill>
                <a:latin typeface="Arial" pitchFamily="34" charset="0"/>
                <a:ea typeface="Arial" pitchFamily="34" charset="-122"/>
                <a:cs typeface="Arial" pitchFamily="34" charset="-120"/>
              </a:rPr>
              <a:t>Here is your ITR acknowledgement for FY 2025-26, as a password-protected PDF.</a:t>
            </a:r>
            <a:endParaRPr lang="en-US" sz="1000" dirty="0"/>
          </a:p>
        </p:txBody>
      </p:sp>
      <p:sp>
        <p:nvSpPr>
          <p:cNvPr id="14" name="Email card 14"/>
          <p:cNvSpPr/>
          <p:nvPr/>
        </p:nvSpPr>
        <p:spPr>
          <a:xfrm>
            <a:off x="1280160" y="4791456"/>
            <a:ext cx="2743200" cy="566928"/>
          </a:xfrm>
          <a:prstGeom prst="roundRect">
            <a:avLst>
              <a:gd name="adj" fmla="val 12903"/>
            </a:avLst>
          </a:prstGeom>
          <a:solidFill>
            <a:srgbClr val="FFFFFF"/>
          </a:solidFill>
          <a:ln/>
        </p:spPr>
        <p:txBody>
          <a:bodyPr/>
          <a:p/>
        </p:txBody>
      </p:sp>
      <p:sp>
        <p:nvSpPr>
          <p:cNvPr id="15" name="Email text 15"/>
          <p:cNvSpPr txBox="1"/>
          <p:nvPr/>
        </p:nvSpPr>
        <p:spPr>
          <a:xfrm>
            <a:off x="1371600" y="4846320"/>
            <a:ext cx="2560320" cy="457200"/>
          </a:xfrm>
          <a:prstGeom prst="rect">
            <a:avLst/>
          </a:prstGeom>
          <a:noFill/>
          <a:ln/>
        </p:spPr>
        <p:txBody>
          <a:bodyPr wrap="square" lIns="0" tIns="0" rIns="0" bIns="0" rtlCol="0" anchor="t"/>
          <a:lstStyle/>
          <a:p>
            <a:pPr indent="0" marL="0">
              <a:buNone/>
            </a:pPr>
            <a:r>
              <a:rPr lang="en-US" sz="900" b="1" dirty="0">
                <a:solidFill>
                  <a:srgbClr val="51607A"/>
                </a:solidFill>
                <a:latin typeface="Arial" pitchFamily="34" charset="0"/>
                <a:ea typeface="Arial" pitchFamily="34" charset="-122"/>
                <a:cs typeface="Arial" pitchFamily="34" charset="-120"/>
              </a:rPr>
              <a:t>To: Mehta ji  ·  GSTR-3B filed</a:t>
            </a:r>
          </a:p>
          <a:p>
            <a:pPr indent="0" marL="0">
              <a:buNone/>
            </a:pPr>
            <a:r>
              <a:rPr lang="en-US" sz="1000" dirty="0">
                <a:solidFill>
                  <a:srgbClr val="0B1F3A"/>
                </a:solidFill>
                <a:latin typeface="Arial" pitchFamily="34" charset="0"/>
                <a:ea typeface="Arial" pitchFamily="34" charset="-122"/>
                <a:cs typeface="Arial" pitchFamily="34" charset="-120"/>
              </a:rPr>
              <a:t>Your GSTR-3B for September is filed. The acknowledgement is attached.</a:t>
            </a:r>
            <a:endParaRPr lang="en-US" sz="1000" dirty="0"/>
          </a:p>
        </p:txBody>
      </p:sp>
      <p:sp>
        <p:nvSpPr>
          <p:cNvPr id="16" name="Text 14"/>
          <p:cNvSpPr txBox="1"/>
          <p:nvPr/>
        </p:nvSpPr>
        <p:spPr>
          <a:xfrm>
            <a:off x="1005840" y="5806440"/>
            <a:ext cx="3291840" cy="228600"/>
          </a:xfrm>
          <a:prstGeom prst="rect">
            <a:avLst/>
          </a:prstGeom>
          <a:noFill/>
          <a:ln/>
        </p:spPr>
        <p:txBody>
          <a:bodyPr wrap="square" lIns="0" tIns="0" rIns="0" bIns="0" rtlCol="0" anchor="t"/>
          <a:lstStyle/>
          <a:p>
            <a:pPr algn="ctr" indent="0" marL="0">
              <a:buNone/>
            </a:pPr>
            <a:r>
              <a:rPr lang="en-US" sz="1000" dirty="0">
                <a:solidFill>
                  <a:srgbClr val="51607A"/>
                </a:solidFill>
                <a:latin typeface="Arial" pitchFamily="34" charset="0"/>
                <a:ea typeface="Arial" pitchFamily="34" charset="-122"/>
                <a:cs typeface="Arial" pitchFamily="34" charset="-120"/>
              </a:rPr>
              <a:t>Illustration</a:t>
            </a:r>
            <a:endParaRPr lang="en-US" sz="1000" dirty="0"/>
          </a:p>
        </p:txBody>
      </p:sp>
      <p:sp>
        <p:nvSpPr>
          <p:cNvPr id="17" name="Shape 15"/>
          <p:cNvSpPr/>
          <p:nvPr/>
        </p:nvSpPr>
        <p:spPr>
          <a:xfrm>
            <a:off x="5120640" y="1828800"/>
            <a:ext cx="685800" cy="685800"/>
          </a:xfrm>
          <a:prstGeom prst="ellipse">
            <a:avLst/>
          </a:prstGeom>
          <a:solidFill>
            <a:srgbClr val="E3EAF5"/>
          </a:solidFill>
          <a:ln/>
        </p:spPr>
        <p:txBody>
          <a:bodyPr/>
          <a:p/>
        </p:txBody>
      </p:sp>
      <p:pic>
        <p:nvPicPr>
          <p:cNvPr id="18" name="Image 0" descr="preencoded.png">    </p:cNvPr>
          <p:cNvPicPr>
            <a:picLocks noChangeAspect="1"/>
          </p:cNvPicPr>
          <p:nvPr/>
        </p:nvPicPr>
        <p:blipFill>
          <a:blip r:embed="rId1"/>
          <a:stretch>
            <a:fillRect/>
          </a:stretch>
        </p:blipFill>
        <p:spPr>
          <a:xfrm>
            <a:off x="5292090" y="2000250"/>
            <a:ext cx="342900" cy="342900"/>
          </a:xfrm>
          <a:prstGeom prst="rect">
            <a:avLst/>
          </a:prstGeom>
        </p:spPr>
      </p:pic>
      <p:sp>
        <p:nvSpPr>
          <p:cNvPr id="19" name="Text 16"/>
          <p:cNvSpPr txBox="1"/>
          <p:nvPr/>
        </p:nvSpPr>
        <p:spPr>
          <a:xfrm>
            <a:off x="6035040" y="1828800"/>
            <a:ext cx="5577840" cy="365760"/>
          </a:xfrm>
          <a:prstGeom prst="rect">
            <a:avLst/>
          </a:prstGeom>
          <a:noFill/>
          <a:ln/>
        </p:spPr>
        <p:txBody>
          <a:bodyPr wrap="square" lIns="0" tIns="0" rIns="0" bIns="0" rtlCol="0" anchor="t"/>
          <a:lstStyle/>
          <a:p>
            <a:pPr indent="0" marL="0">
              <a:buNone/>
            </a:pPr>
            <a:r>
              <a:rPr lang="en-US" sz="2000" b="1" dirty="0">
                <a:solidFill>
                  <a:srgbClr val="0B1F3A"/>
                </a:solidFill>
                <a:latin typeface="Arial" pitchFamily="34" charset="0"/>
                <a:ea typeface="Arial" pitchFamily="34" charset="-122"/>
                <a:cs typeface="Arial" pitchFamily="34" charset="-120"/>
              </a:rPr>
              <a:t>From your own email address</a:t>
            </a:r>
            <a:endParaRPr lang="en-US" sz="2000" dirty="0"/>
          </a:p>
        </p:txBody>
      </p:sp>
      <p:sp>
        <p:nvSpPr>
          <p:cNvPr id="20" name="Text 17"/>
          <p:cNvSpPr txBox="1"/>
          <p:nvPr/>
        </p:nvSpPr>
        <p:spPr>
          <a:xfrm>
            <a:off x="6035040" y="2267712"/>
            <a:ext cx="5577840" cy="731520"/>
          </a:xfrm>
          <a:prstGeom prst="rect">
            <a:avLst/>
          </a:prstGeom>
          <a:noFill/>
          <a:ln/>
        </p:spPr>
        <p:txBody>
          <a:bodyPr wrap="square" lIns="0" tIns="0" rIns="0" bIns="0" rtlCol="0" anchor="t"/>
          <a:lstStyle/>
          <a:p>
            <a:pPr indent="0" marL="0">
              <a:buNone/>
            </a:pPr>
            <a:r>
              <a:rPr lang="en-US" sz="1500" dirty="0">
                <a:solidFill>
                  <a:srgbClr val="51607A"/>
                </a:solidFill>
                <a:latin typeface="Arial" pitchFamily="34" charset="0"/>
                <a:ea typeface="Arial" pitchFamily="34" charset="-122"/>
                <a:cs typeface="Arial" pitchFamily="34" charset="-120"/>
              </a:rPr>
              <a:t>Every message goes from your firm's own email. You can see it in your Sent folder.</a:t>
            </a:r>
            <a:endParaRPr lang="en-US" sz="1500" dirty="0"/>
          </a:p>
        </p:txBody>
      </p:sp>
      <p:sp>
        <p:nvSpPr>
          <p:cNvPr id="21" name="Shape 18"/>
          <p:cNvSpPr/>
          <p:nvPr/>
        </p:nvSpPr>
        <p:spPr>
          <a:xfrm>
            <a:off x="5120640" y="3246120"/>
            <a:ext cx="685800" cy="685800"/>
          </a:xfrm>
          <a:prstGeom prst="ellipse">
            <a:avLst/>
          </a:prstGeom>
          <a:solidFill>
            <a:srgbClr val="E3EAF5"/>
          </a:solidFill>
          <a:ln/>
        </p:spPr>
        <p:txBody>
          <a:bodyPr/>
          <a:p/>
        </p:txBody>
      </p:sp>
      <p:pic>
        <p:nvPicPr>
          <p:cNvPr id="22" name="Image 1" descr="preencoded.png">    </p:cNvPr>
          <p:cNvPicPr>
            <a:picLocks noChangeAspect="1"/>
          </p:cNvPicPr>
          <p:nvPr/>
        </p:nvPicPr>
        <p:blipFill>
          <a:blip r:embed="rId2"/>
          <a:stretch>
            <a:fillRect/>
          </a:stretch>
        </p:blipFill>
        <p:spPr>
          <a:xfrm>
            <a:off x="5292090" y="3417570"/>
            <a:ext cx="342900" cy="342900"/>
          </a:xfrm>
          <a:prstGeom prst="rect">
            <a:avLst/>
          </a:prstGeom>
        </p:spPr>
      </p:pic>
      <p:sp>
        <p:nvSpPr>
          <p:cNvPr id="23" name="Text 19"/>
          <p:cNvSpPr txBox="1"/>
          <p:nvPr/>
        </p:nvSpPr>
        <p:spPr>
          <a:xfrm>
            <a:off x="6035040" y="3246120"/>
            <a:ext cx="5577840" cy="365760"/>
          </a:xfrm>
          <a:prstGeom prst="rect">
            <a:avLst/>
          </a:prstGeom>
          <a:noFill/>
          <a:ln/>
        </p:spPr>
        <p:txBody>
          <a:bodyPr wrap="square" lIns="0" tIns="0" rIns="0" bIns="0" rtlCol="0" anchor="t"/>
          <a:lstStyle/>
          <a:p>
            <a:pPr indent="0" marL="0">
              <a:buNone/>
            </a:pPr>
            <a:r>
              <a:rPr lang="en-US" sz="2000" b="1" dirty="0">
                <a:solidFill>
                  <a:srgbClr val="0B1F3A"/>
                </a:solidFill>
                <a:latin typeface="Arial" pitchFamily="34" charset="0"/>
                <a:ea typeface="Arial" pitchFamily="34" charset="-122"/>
                <a:cs typeface="Arial" pitchFamily="34" charset="-120"/>
              </a:rPr>
              <a:t>Clients can simply reply</a:t>
            </a:r>
            <a:endParaRPr lang="en-US" sz="2000" dirty="0"/>
          </a:p>
        </p:txBody>
      </p:sp>
      <p:sp>
        <p:nvSpPr>
          <p:cNvPr id="24" name="Text 20"/>
          <p:cNvSpPr txBox="1"/>
          <p:nvPr/>
        </p:nvSpPr>
        <p:spPr>
          <a:xfrm>
            <a:off x="6035040" y="3685032"/>
            <a:ext cx="5577840" cy="731520"/>
          </a:xfrm>
          <a:prstGeom prst="rect">
            <a:avLst/>
          </a:prstGeom>
          <a:noFill/>
          <a:ln/>
        </p:spPr>
        <p:txBody>
          <a:bodyPr wrap="square" lIns="0" tIns="0" rIns="0" bIns="0" rtlCol="0" anchor="t"/>
          <a:lstStyle/>
          <a:p>
            <a:pPr indent="0" marL="0">
              <a:buNone/>
            </a:pPr>
            <a:r>
              <a:rPr lang="en-US" sz="1500" dirty="0">
                <a:solidFill>
                  <a:srgbClr val="51607A"/>
                </a:solidFill>
                <a:latin typeface="Arial" pitchFamily="34" charset="0"/>
                <a:ea typeface="Arial" pitchFamily="34" charset="-122"/>
                <a:cs typeface="Arial" pitchFamily="34" charset="-120"/>
              </a:rPr>
              <a:t>Simple requests are answered at once. Private papers wait for one OK from your team. Anything unusual goes to your team.</a:t>
            </a:r>
            <a:endParaRPr lang="en-US" sz="1500" dirty="0"/>
          </a:p>
        </p:txBody>
      </p:sp>
      <p:sp>
        <p:nvSpPr>
          <p:cNvPr id="25" name="Shape 21"/>
          <p:cNvSpPr/>
          <p:nvPr/>
        </p:nvSpPr>
        <p:spPr>
          <a:xfrm>
            <a:off x="5120640" y="4663440"/>
            <a:ext cx="685800" cy="685800"/>
          </a:xfrm>
          <a:prstGeom prst="ellipse">
            <a:avLst/>
          </a:prstGeom>
          <a:solidFill>
            <a:srgbClr val="E3EAF5"/>
          </a:solidFill>
          <a:ln/>
        </p:spPr>
        <p:txBody>
          <a:bodyPr/>
          <a:p/>
        </p:txBody>
      </p:sp>
      <p:pic>
        <p:nvPicPr>
          <p:cNvPr id="26" name="Image 2" descr="preencoded.png">    </p:cNvPr>
          <p:cNvPicPr>
            <a:picLocks noChangeAspect="1"/>
          </p:cNvPicPr>
          <p:nvPr/>
        </p:nvPicPr>
        <p:blipFill>
          <a:blip r:embed="rId3"/>
          <a:stretch>
            <a:fillRect/>
          </a:stretch>
        </p:blipFill>
        <p:spPr>
          <a:xfrm>
            <a:off x="5292090" y="4834890"/>
            <a:ext cx="342900" cy="342900"/>
          </a:xfrm>
          <a:prstGeom prst="rect">
            <a:avLst/>
          </a:prstGeom>
        </p:spPr>
      </p:pic>
      <p:sp>
        <p:nvSpPr>
          <p:cNvPr id="27" name="Text 22"/>
          <p:cNvSpPr txBox="1"/>
          <p:nvPr/>
        </p:nvSpPr>
        <p:spPr>
          <a:xfrm>
            <a:off x="6035040" y="4663440"/>
            <a:ext cx="5577840" cy="365760"/>
          </a:xfrm>
          <a:prstGeom prst="rect">
            <a:avLst/>
          </a:prstGeom>
          <a:noFill/>
          <a:ln/>
        </p:spPr>
        <p:txBody>
          <a:bodyPr wrap="square" lIns="0" tIns="0" rIns="0" bIns="0" rtlCol="0" anchor="t"/>
          <a:lstStyle/>
          <a:p>
            <a:pPr indent="0" marL="0">
              <a:buNone/>
            </a:pPr>
            <a:r>
              <a:rPr lang="en-US" sz="2000" b="1" dirty="0">
                <a:solidFill>
                  <a:srgbClr val="0B1F3A"/>
                </a:solidFill>
                <a:latin typeface="Arial" pitchFamily="34" charset="0"/>
                <a:ea typeface="Arial" pitchFamily="34" charset="-122"/>
                <a:cs typeface="Arial" pitchFamily="34" charset="-120"/>
              </a:rPr>
              <a:t>Your team replies by email</a:t>
            </a:r>
            <a:endParaRPr lang="en-US" sz="2000" dirty="0"/>
          </a:p>
        </p:txBody>
      </p:sp>
      <p:sp>
        <p:nvSpPr>
          <p:cNvPr id="28" name="Text 23"/>
          <p:cNvSpPr txBox="1"/>
          <p:nvPr/>
        </p:nvSpPr>
        <p:spPr>
          <a:xfrm>
            <a:off x="6035040" y="5102352"/>
            <a:ext cx="5577840" cy="731520"/>
          </a:xfrm>
          <a:prstGeom prst="rect">
            <a:avLst/>
          </a:prstGeom>
          <a:noFill/>
          <a:ln/>
        </p:spPr>
        <p:txBody>
          <a:bodyPr wrap="square" lIns="0" tIns="0" rIns="0" bIns="0" rtlCol="0" anchor="t"/>
          <a:lstStyle/>
          <a:p>
            <a:pPr indent="0" marL="0">
              <a:buNone/>
            </a:pPr>
            <a:r>
              <a:rPr lang="en-US" sz="1500" dirty="0">
                <a:solidFill>
                  <a:srgbClr val="51607A"/>
                </a:solidFill>
                <a:latin typeface="Arial" pitchFamily="34" charset="0"/>
                <a:ea typeface="Arial" pitchFamily="34" charset="-122"/>
                <a:cs typeface="Arial" pitchFamily="34" charset="-120"/>
              </a:rPr>
              <a:t>InboxCA tells you when a reply is needed. You read and reply in your own email. InboxCA keeps no copy.</a:t>
            </a:r>
            <a:endParaRPr lang="en-US" sz="1500" dirty="0"/>
          </a:p>
        </p:txBody>
      </p:sp>
      <p:sp>
        <p:nvSpPr>
          <p:cNvPr id="29" name="Text 24"/>
          <p:cNvSpPr txBox="1"/>
          <p:nvPr/>
        </p:nvSpPr>
        <p:spPr>
          <a:xfrm>
            <a:off x="548640" y="6355080"/>
            <a:ext cx="9144000" cy="274320"/>
          </a:xfrm>
          <a:prstGeom prst="rect">
            <a:avLst/>
          </a:prstGeom>
          <a:noFill/>
          <a:ln/>
        </p:spPr>
        <p:txBody>
          <a:bodyPr wrap="square" lIns="0" tIns="0" rIns="0" bIns="0" rtlCol="0" anchor="t"/>
          <a:lstStyle/>
          <a:p>
            <a:pPr indent="0" marL="0">
              <a:buNone/>
            </a:pPr>
            <a:r>
              <a:rPr lang="en-US" sz="1000" dirty="0">
                <a:solidFill>
                  <a:srgbClr val="51607A"/>
                </a:solidFill>
                <a:latin typeface="Arial" pitchFamily="34" charset="0"/>
                <a:ea typeface="Arial" pitchFamily="34" charset="-122"/>
                <a:cs typeface="Arial" pitchFamily="34" charset="-120"/>
              </a:rPr>
              <a:t>InboxCA · a product by Orelu · Prepared for CA Paresh</a:t>
            </a:r>
            <a:endParaRPr lang="en-US" sz="1000" dirty="0"/>
          </a:p>
        </p:txBody>
      </p:sp>
      <p:sp>
        <p:nvSpPr>
          <p:cNvPr id="30" name="Text 25"/>
          <p:cNvSpPr txBox="1"/>
          <p:nvPr/>
        </p:nvSpPr>
        <p:spPr>
          <a:xfrm>
            <a:off x="10908792" y="6355080"/>
            <a:ext cx="731520" cy="274320"/>
          </a:xfrm>
          <a:prstGeom prst="rect">
            <a:avLst/>
          </a:prstGeom>
          <a:noFill/>
          <a:ln/>
        </p:spPr>
        <p:txBody>
          <a:bodyPr wrap="square" lIns="0" tIns="0" rIns="0" bIns="0" rtlCol="0" anchor="t"/>
          <a:lstStyle/>
          <a:p>
            <a:pPr algn="r" indent="0" marL="0">
              <a:buNone/>
            </a:pPr>
            <a:r>
              <a:rPr lang="en-US" sz="1000" dirty="0">
                <a:solidFill>
                  <a:srgbClr val="51607A"/>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200" b="1" spc="300" kern="0" dirty="0">
                <a:solidFill>
                  <a:srgbClr val="1A4BB0"/>
                </a:solidFill>
                <a:latin typeface="Arial" pitchFamily="34" charset="0"/>
                <a:ea typeface="Arial" pitchFamily="34" charset="-122"/>
                <a:cs typeface="Arial" pitchFamily="34" charset="-120"/>
              </a:rPr>
              <a:t>WHAT YOU SEE</a:t>
            </a:r>
            <a:endParaRPr lang="en-US" sz="1200" dirty="0"/>
          </a:p>
        </p:txBody>
      </p:sp>
      <p:sp>
        <p:nvSpPr>
          <p:cNvPr id="3" name="Text 1"/>
          <p:cNvSpPr txBox="1"/>
          <p:nvPr/>
        </p:nvSpPr>
        <p:spPr>
          <a:xfrm>
            <a:off x="548640" y="777240"/>
            <a:ext cx="11091672" cy="685800"/>
          </a:xfrm>
          <a:prstGeom prst="rect">
            <a:avLst/>
          </a:prstGeom>
          <a:noFill/>
          <a:ln/>
        </p:spPr>
        <p:txBody>
          <a:bodyPr wrap="square" lIns="0" tIns="0" rIns="0" bIns="0" rtlCol="0" anchor="t"/>
          <a:lstStyle/>
          <a:p>
            <a:pPr indent="0" marL="0">
              <a:buNone/>
            </a:pPr>
            <a:r>
              <a:rPr lang="en-US" sz="3200" b="1" dirty="0">
                <a:solidFill>
                  <a:srgbClr val="0B1F3A"/>
                </a:solidFill>
                <a:latin typeface="Arial" pitchFamily="34" charset="0"/>
                <a:ea typeface="Arial" pitchFamily="34" charset="-122"/>
                <a:cs typeface="Arial" pitchFamily="34" charset="-120"/>
              </a:rPr>
              <a:t>Your whole firm on one screen, every morning</a:t>
            </a:r>
            <a:endParaRPr lang="en-US" sz="3200" dirty="0"/>
          </a:p>
        </p:txBody>
      </p:sp>
      <p:sp>
        <p:nvSpPr>
          <p:cNvPr id="4" name="Shape 2"/>
          <p:cNvSpPr/>
          <p:nvPr/>
        </p:nvSpPr>
        <p:spPr>
          <a:xfrm>
            <a:off x="548640" y="1783080"/>
            <a:ext cx="7406640" cy="4160520"/>
          </a:xfrm>
          <a:prstGeom prst="roundRect">
            <a:avLst>
              <a:gd name="adj" fmla="val 2637"/>
            </a:avLst>
          </a:prstGeom>
          <a:solidFill>
            <a:srgbClr val="FFFFFF"/>
          </a:solidFill>
          <a:ln w="12700">
            <a:solidFill>
              <a:srgbClr val="D9E0EA"/>
            </a:solidFill>
            <a:prstDash val="solid"/>
          </a:ln>
        </p:spPr>
        <p:txBody>
          <a:bodyPr/>
          <a:p/>
        </p:txBody>
      </p:sp>
      <p:sp>
        <p:nvSpPr>
          <p:cNvPr id="5" name="Text 3"/>
          <p:cNvSpPr txBox="1"/>
          <p:nvPr/>
        </p:nvSpPr>
        <p:spPr>
          <a:xfrm>
            <a:off x="868680" y="2011680"/>
            <a:ext cx="3657600" cy="365760"/>
          </a:xfrm>
          <a:prstGeom prst="rect">
            <a:avLst/>
          </a:prstGeom>
          <a:noFill/>
          <a:ln/>
        </p:spPr>
        <p:txBody>
          <a:bodyPr wrap="square" lIns="0" tIns="0" rIns="0" bIns="0" rtlCol="0" anchor="t"/>
          <a:lstStyle/>
          <a:p>
            <a:pPr indent="0" marL="0">
              <a:buNone/>
            </a:pPr>
            <a:r>
              <a:rPr lang="en-US" sz="1600" b="1" dirty="0">
                <a:solidFill>
                  <a:srgbClr val="0B1F3A"/>
                </a:solidFill>
                <a:latin typeface="Arial" pitchFamily="34" charset="0"/>
                <a:ea typeface="Arial" pitchFamily="34" charset="-122"/>
                <a:cs typeface="Arial" pitchFamily="34" charset="-120"/>
              </a:rPr>
              <a:t>Dashboard</a:t>
            </a:r>
            <a:endParaRPr lang="en-US" sz="1600" dirty="0"/>
          </a:p>
        </p:txBody>
      </p:sp>
      <p:sp>
        <p:nvSpPr>
          <p:cNvPr id="6" name="Shape 4"/>
          <p:cNvSpPr/>
          <p:nvPr/>
        </p:nvSpPr>
        <p:spPr>
          <a:xfrm>
            <a:off x="868680" y="2560320"/>
            <a:ext cx="2103120" cy="1188720"/>
          </a:xfrm>
          <a:prstGeom prst="roundRect">
            <a:avLst>
              <a:gd name="adj" fmla="val 9231"/>
            </a:avLst>
          </a:prstGeom>
          <a:solidFill>
            <a:srgbClr val="FFFFFF"/>
          </a:solidFill>
          <a:ln/>
        </p:spPr>
        <p:txBody>
          <a:bodyPr/>
          <a:p/>
        </p:txBody>
      </p:sp>
      <p:sp>
        <p:nvSpPr>
          <p:cNvPr id="7" name="Text 5"/>
          <p:cNvSpPr txBox="1"/>
          <p:nvPr/>
        </p:nvSpPr>
        <p:spPr>
          <a:xfrm>
            <a:off x="1097280" y="2743200"/>
            <a:ext cx="1645920" cy="548640"/>
          </a:xfrm>
          <a:prstGeom prst="rect">
            <a:avLst/>
          </a:prstGeom>
          <a:noFill/>
          <a:ln/>
        </p:spPr>
        <p:txBody>
          <a:bodyPr wrap="square" lIns="0" tIns="0" rIns="0" bIns="0" rtlCol="0" anchor="t"/>
          <a:lstStyle/>
          <a:p>
            <a:pPr indent="0" marL="0">
              <a:buNone/>
            </a:pPr>
            <a:r>
              <a:rPr lang="en-US" sz="3000" b="1" dirty="0">
                <a:solidFill>
                  <a:srgbClr val="0B1F3A"/>
                </a:solidFill>
                <a:latin typeface="Arial" pitchFamily="34" charset="0"/>
                <a:ea typeface="Arial" pitchFamily="34" charset="-122"/>
                <a:cs typeface="Arial" pitchFamily="34" charset="-120"/>
              </a:rPr>
              <a:t>18</a:t>
            </a:r>
            <a:endParaRPr lang="en-US" sz="3000" dirty="0"/>
          </a:p>
        </p:txBody>
      </p:sp>
      <p:sp>
        <p:nvSpPr>
          <p:cNvPr id="8" name="Text 6"/>
          <p:cNvSpPr txBox="1"/>
          <p:nvPr/>
        </p:nvSpPr>
        <p:spPr>
          <a:xfrm>
            <a:off x="1097280" y="3310128"/>
            <a:ext cx="1645920" cy="320040"/>
          </a:xfrm>
          <a:prstGeom prst="rect">
            <a:avLst/>
          </a:prstGeom>
          <a:noFill/>
          <a:ln/>
        </p:spPr>
        <p:txBody>
          <a:bodyPr wrap="square" lIns="0" tIns="0" rIns="0" bIns="0" rtlCol="0" anchor="t"/>
          <a:lstStyle/>
          <a:p>
            <a:pPr indent="0" marL="0">
              <a:buNone/>
            </a:pPr>
            <a:r>
              <a:rPr lang="en-US" sz="1200" dirty="0">
                <a:solidFill>
                  <a:srgbClr val="51607A"/>
                </a:solidFill>
                <a:latin typeface="Arial" pitchFamily="34" charset="0"/>
                <a:ea typeface="Arial" pitchFamily="34" charset="-122"/>
                <a:cs typeface="Arial" pitchFamily="34" charset="-120"/>
              </a:rPr>
              <a:t>Due this week</a:t>
            </a:r>
            <a:endParaRPr lang="en-US" sz="1200" dirty="0"/>
          </a:p>
        </p:txBody>
      </p:sp>
      <p:sp>
        <p:nvSpPr>
          <p:cNvPr id="9" name="Shape 7"/>
          <p:cNvSpPr/>
          <p:nvPr/>
        </p:nvSpPr>
        <p:spPr>
          <a:xfrm>
            <a:off x="3200400" y="2560320"/>
            <a:ext cx="2103120" cy="1188720"/>
          </a:xfrm>
          <a:prstGeom prst="roundRect">
            <a:avLst>
              <a:gd name="adj" fmla="val 9231"/>
            </a:avLst>
          </a:prstGeom>
          <a:solidFill>
            <a:srgbClr val="DCE6FA"/>
          </a:solidFill>
          <a:ln/>
        </p:spPr>
        <p:txBody>
          <a:bodyPr/>
          <a:p/>
        </p:txBody>
      </p:sp>
      <p:sp>
        <p:nvSpPr>
          <p:cNvPr id="10" name="Text 8"/>
          <p:cNvSpPr txBox="1"/>
          <p:nvPr/>
        </p:nvSpPr>
        <p:spPr>
          <a:xfrm>
            <a:off x="3429000" y="2743200"/>
            <a:ext cx="1645920" cy="548640"/>
          </a:xfrm>
          <a:prstGeom prst="rect">
            <a:avLst/>
          </a:prstGeom>
          <a:noFill/>
          <a:ln/>
        </p:spPr>
        <p:txBody>
          <a:bodyPr wrap="square" lIns="0" tIns="0" rIns="0" bIns="0" rtlCol="0" anchor="t"/>
          <a:lstStyle/>
          <a:p>
            <a:pPr indent="0" marL="0">
              <a:buNone/>
            </a:pPr>
            <a:r>
              <a:rPr lang="en-US" sz="3000" b="1" dirty="0">
                <a:solidFill>
                  <a:srgbClr val="1A4BB0"/>
                </a:solidFill>
                <a:latin typeface="Arial" pitchFamily="34" charset="0"/>
                <a:ea typeface="Arial" pitchFamily="34" charset="-122"/>
                <a:cs typeface="Arial" pitchFamily="34" charset="-120"/>
              </a:rPr>
              <a:t>3</a:t>
            </a:r>
            <a:endParaRPr lang="en-US" sz="3000" dirty="0"/>
          </a:p>
        </p:txBody>
      </p:sp>
      <p:sp>
        <p:nvSpPr>
          <p:cNvPr id="11" name="Text 9"/>
          <p:cNvSpPr txBox="1"/>
          <p:nvPr/>
        </p:nvSpPr>
        <p:spPr>
          <a:xfrm>
            <a:off x="3429000" y="3310128"/>
            <a:ext cx="1645920" cy="320040"/>
          </a:xfrm>
          <a:prstGeom prst="rect">
            <a:avLst/>
          </a:prstGeom>
          <a:noFill/>
          <a:ln/>
        </p:spPr>
        <p:txBody>
          <a:bodyPr wrap="square" lIns="0" tIns="0" rIns="0" bIns="0" rtlCol="0" anchor="t"/>
          <a:lstStyle/>
          <a:p>
            <a:pPr indent="0" marL="0">
              <a:buNone/>
            </a:pPr>
            <a:r>
              <a:rPr lang="en-US" sz="1200" dirty="0">
                <a:solidFill>
                  <a:srgbClr val="51607A"/>
                </a:solidFill>
                <a:latin typeface="Arial" pitchFamily="34" charset="0"/>
                <a:ea typeface="Arial" pitchFamily="34" charset="-122"/>
                <a:cs typeface="Arial" pitchFamily="34" charset="-120"/>
              </a:rPr>
              <a:t>Overdue</a:t>
            </a:r>
            <a:endParaRPr lang="en-US" sz="1200" dirty="0"/>
          </a:p>
        </p:txBody>
      </p:sp>
      <p:sp>
        <p:nvSpPr>
          <p:cNvPr id="12" name="Shape 10"/>
          <p:cNvSpPr/>
          <p:nvPr/>
        </p:nvSpPr>
        <p:spPr>
          <a:xfrm>
            <a:off x="5532120" y="2560320"/>
            <a:ext cx="2103120" cy="1188720"/>
          </a:xfrm>
          <a:prstGeom prst="roundRect">
            <a:avLst>
              <a:gd name="adj" fmla="val 9231"/>
            </a:avLst>
          </a:prstGeom>
          <a:solidFill>
            <a:srgbClr val="FFFFFF"/>
          </a:solidFill>
          <a:ln/>
        </p:spPr>
        <p:txBody>
          <a:bodyPr/>
          <a:p/>
        </p:txBody>
      </p:sp>
      <p:sp>
        <p:nvSpPr>
          <p:cNvPr id="13" name="Text 11"/>
          <p:cNvSpPr txBox="1"/>
          <p:nvPr/>
        </p:nvSpPr>
        <p:spPr>
          <a:xfrm>
            <a:off x="5760720" y="2743200"/>
            <a:ext cx="1645920" cy="548640"/>
          </a:xfrm>
          <a:prstGeom prst="rect">
            <a:avLst/>
          </a:prstGeom>
          <a:noFill/>
          <a:ln/>
        </p:spPr>
        <p:txBody>
          <a:bodyPr wrap="square" lIns="0" tIns="0" rIns="0" bIns="0" rtlCol="0" anchor="t"/>
          <a:lstStyle/>
          <a:p>
            <a:pPr indent="0" marL="0">
              <a:buNone/>
            </a:pPr>
            <a:r>
              <a:rPr lang="en-US" sz="3000" b="1" dirty="0">
                <a:solidFill>
                  <a:srgbClr val="0B1F3A"/>
                </a:solidFill>
                <a:latin typeface="Arial" pitchFamily="34" charset="0"/>
                <a:ea typeface="Arial" pitchFamily="34" charset="-122"/>
                <a:cs typeface="Arial" pitchFamily="34" charset="-120"/>
              </a:rPr>
              <a:t>42</a:t>
            </a:r>
            <a:endParaRPr lang="en-US" sz="3000" dirty="0"/>
          </a:p>
        </p:txBody>
      </p:sp>
      <p:sp>
        <p:nvSpPr>
          <p:cNvPr id="14" name="Text 12"/>
          <p:cNvSpPr txBox="1"/>
          <p:nvPr/>
        </p:nvSpPr>
        <p:spPr>
          <a:xfrm>
            <a:off x="5760720" y="3310128"/>
            <a:ext cx="1645920" cy="320040"/>
          </a:xfrm>
          <a:prstGeom prst="rect">
            <a:avLst/>
          </a:prstGeom>
          <a:noFill/>
          <a:ln/>
        </p:spPr>
        <p:txBody>
          <a:bodyPr wrap="square" lIns="0" tIns="0" rIns="0" bIns="0" rtlCol="0" anchor="t"/>
          <a:lstStyle/>
          <a:p>
            <a:pPr indent="0" marL="0">
              <a:buNone/>
            </a:pPr>
            <a:r>
              <a:rPr lang="en-US" sz="1200" dirty="0">
                <a:solidFill>
                  <a:srgbClr val="51607A"/>
                </a:solidFill>
                <a:latin typeface="Arial" pitchFamily="34" charset="0"/>
                <a:ea typeface="Arial" pitchFamily="34" charset="-122"/>
                <a:cs typeface="Arial" pitchFamily="34" charset="-120"/>
              </a:rPr>
              <a:t>Documents pending</a:t>
            </a:r>
            <a:endParaRPr lang="en-US" sz="1200" dirty="0"/>
          </a:p>
        </p:txBody>
      </p:sp>
      <p:sp>
        <p:nvSpPr>
          <p:cNvPr id="15" name="Shape 13"/>
          <p:cNvSpPr/>
          <p:nvPr/>
        </p:nvSpPr>
        <p:spPr>
          <a:xfrm>
            <a:off x="868680" y="3977640"/>
            <a:ext cx="2103120" cy="1188720"/>
          </a:xfrm>
          <a:prstGeom prst="roundRect">
            <a:avLst>
              <a:gd name="adj" fmla="val 9231"/>
            </a:avLst>
          </a:prstGeom>
          <a:solidFill>
            <a:srgbClr val="FFFFFF"/>
          </a:solidFill>
          <a:ln/>
        </p:spPr>
        <p:txBody>
          <a:bodyPr/>
          <a:p/>
        </p:txBody>
      </p:sp>
      <p:sp>
        <p:nvSpPr>
          <p:cNvPr id="16" name="Text 14"/>
          <p:cNvSpPr txBox="1"/>
          <p:nvPr/>
        </p:nvSpPr>
        <p:spPr>
          <a:xfrm>
            <a:off x="1097280" y="4160520"/>
            <a:ext cx="1645920" cy="548640"/>
          </a:xfrm>
          <a:prstGeom prst="rect">
            <a:avLst/>
          </a:prstGeom>
          <a:noFill/>
          <a:ln/>
        </p:spPr>
        <p:txBody>
          <a:bodyPr wrap="square" lIns="0" tIns="0" rIns="0" bIns="0" rtlCol="0" anchor="t"/>
          <a:lstStyle/>
          <a:p>
            <a:pPr indent="0" marL="0">
              <a:buNone/>
            </a:pPr>
            <a:r>
              <a:rPr lang="en-US" sz="3000" b="1" dirty="0">
                <a:solidFill>
                  <a:srgbClr val="0B1F3A"/>
                </a:solidFill>
                <a:latin typeface="Arial" pitchFamily="34" charset="0"/>
                <a:ea typeface="Arial" pitchFamily="34" charset="-122"/>
                <a:cs typeface="Arial" pitchFamily="34" charset="-120"/>
              </a:rPr>
              <a:t>9</a:t>
            </a:r>
            <a:endParaRPr lang="en-US" sz="3000" dirty="0"/>
          </a:p>
        </p:txBody>
      </p:sp>
      <p:sp>
        <p:nvSpPr>
          <p:cNvPr id="17" name="Text 15"/>
          <p:cNvSpPr txBox="1"/>
          <p:nvPr/>
        </p:nvSpPr>
        <p:spPr>
          <a:xfrm>
            <a:off x="1097280" y="4727448"/>
            <a:ext cx="1645920" cy="320040"/>
          </a:xfrm>
          <a:prstGeom prst="rect">
            <a:avLst/>
          </a:prstGeom>
          <a:noFill/>
          <a:ln/>
        </p:spPr>
        <p:txBody>
          <a:bodyPr wrap="square" lIns="0" tIns="0" rIns="0" bIns="0" rtlCol="0" anchor="t"/>
          <a:lstStyle/>
          <a:p>
            <a:pPr indent="0" marL="0">
              <a:buNone/>
            </a:pPr>
            <a:r>
              <a:rPr lang="en-US" sz="1200" dirty="0">
                <a:solidFill>
                  <a:srgbClr val="51607A"/>
                </a:solidFill>
                <a:latin typeface="Arial" pitchFamily="34" charset="0"/>
                <a:ea typeface="Arial" pitchFamily="34" charset="-122"/>
                <a:cs typeface="Arial" pitchFamily="34" charset="-120"/>
              </a:rPr>
              <a:t>Forms to approve</a:t>
            </a:r>
            <a:endParaRPr lang="en-US" sz="1200" dirty="0"/>
          </a:p>
        </p:txBody>
      </p:sp>
      <p:sp>
        <p:nvSpPr>
          <p:cNvPr id="18" name="Shape 16"/>
          <p:cNvSpPr/>
          <p:nvPr/>
        </p:nvSpPr>
        <p:spPr>
          <a:xfrm>
            <a:off x="3200400" y="3977640"/>
            <a:ext cx="2103120" cy="1188720"/>
          </a:xfrm>
          <a:prstGeom prst="roundRect">
            <a:avLst>
              <a:gd name="adj" fmla="val 9231"/>
            </a:avLst>
          </a:prstGeom>
          <a:solidFill>
            <a:srgbClr val="FFFFFF"/>
          </a:solidFill>
          <a:ln/>
        </p:spPr>
        <p:txBody>
          <a:bodyPr/>
          <a:p/>
        </p:txBody>
      </p:sp>
      <p:sp>
        <p:nvSpPr>
          <p:cNvPr id="19" name="Text 17"/>
          <p:cNvSpPr txBox="1"/>
          <p:nvPr/>
        </p:nvSpPr>
        <p:spPr>
          <a:xfrm>
            <a:off x="3429000" y="4160520"/>
            <a:ext cx="1645920" cy="548640"/>
          </a:xfrm>
          <a:prstGeom prst="rect">
            <a:avLst/>
          </a:prstGeom>
          <a:noFill/>
          <a:ln/>
        </p:spPr>
        <p:txBody>
          <a:bodyPr wrap="square" lIns="0" tIns="0" rIns="0" bIns="0" rtlCol="0" anchor="t"/>
          <a:lstStyle/>
          <a:p>
            <a:pPr indent="0" marL="0">
              <a:buNone/>
            </a:pPr>
            <a:r>
              <a:rPr lang="en-US" sz="3000" b="1" dirty="0">
                <a:solidFill>
                  <a:srgbClr val="0B1F3A"/>
                </a:solidFill>
                <a:latin typeface="Arial" pitchFamily="34" charset="0"/>
                <a:ea typeface="Arial" pitchFamily="34" charset="-122"/>
                <a:cs typeface="Arial" pitchFamily="34" charset="-120"/>
              </a:rPr>
              <a:t>4</a:t>
            </a:r>
            <a:endParaRPr lang="en-US" sz="3000" dirty="0"/>
          </a:p>
        </p:txBody>
      </p:sp>
      <p:sp>
        <p:nvSpPr>
          <p:cNvPr id="20" name="Text 18"/>
          <p:cNvSpPr txBox="1"/>
          <p:nvPr/>
        </p:nvSpPr>
        <p:spPr>
          <a:xfrm>
            <a:off x="3429000" y="4727448"/>
            <a:ext cx="1645920" cy="320040"/>
          </a:xfrm>
          <a:prstGeom prst="rect">
            <a:avLst/>
          </a:prstGeom>
          <a:noFill/>
          <a:ln/>
        </p:spPr>
        <p:txBody>
          <a:bodyPr wrap="square" lIns="0" tIns="0" rIns="0" bIns="0" rtlCol="0" anchor="t"/>
          <a:lstStyle/>
          <a:p>
            <a:pPr indent="0" marL="0">
              <a:buNone/>
            </a:pPr>
            <a:r>
              <a:rPr lang="en-US" sz="1200" dirty="0">
                <a:solidFill>
                  <a:srgbClr val="51607A"/>
                </a:solidFill>
                <a:latin typeface="Arial" pitchFamily="34" charset="0"/>
                <a:ea typeface="Arial" pitchFamily="34" charset="-122"/>
                <a:cs typeface="Arial" pitchFamily="34" charset="-120"/>
              </a:rPr>
              <a:t>Needs team reply</a:t>
            </a:r>
            <a:endParaRPr lang="en-US" sz="1200" dirty="0"/>
          </a:p>
        </p:txBody>
      </p:sp>
      <p:sp>
        <p:nvSpPr>
          <p:cNvPr id="21" name="Shape 19"/>
          <p:cNvSpPr/>
          <p:nvPr/>
        </p:nvSpPr>
        <p:spPr>
          <a:xfrm>
            <a:off x="5532120" y="3977640"/>
            <a:ext cx="2103120" cy="1188720"/>
          </a:xfrm>
          <a:prstGeom prst="roundRect">
            <a:avLst>
              <a:gd name="adj" fmla="val 9231"/>
            </a:avLst>
          </a:prstGeom>
          <a:solidFill>
            <a:srgbClr val="FFFFFF"/>
          </a:solidFill>
          <a:ln/>
        </p:spPr>
        <p:txBody>
          <a:bodyPr/>
          <a:p/>
        </p:txBody>
      </p:sp>
      <p:sp>
        <p:nvSpPr>
          <p:cNvPr id="22" name="Text 20"/>
          <p:cNvSpPr txBox="1"/>
          <p:nvPr/>
        </p:nvSpPr>
        <p:spPr>
          <a:xfrm>
            <a:off x="5760720" y="4160520"/>
            <a:ext cx="1645920" cy="548640"/>
          </a:xfrm>
          <a:prstGeom prst="rect">
            <a:avLst/>
          </a:prstGeom>
          <a:noFill/>
          <a:ln/>
        </p:spPr>
        <p:txBody>
          <a:bodyPr wrap="square" lIns="0" tIns="0" rIns="0" bIns="0" rtlCol="0" anchor="t"/>
          <a:lstStyle/>
          <a:p>
            <a:pPr indent="0" marL="0">
              <a:buNone/>
            </a:pPr>
            <a:r>
              <a:rPr lang="en-US" sz="3000" b="1" dirty="0">
                <a:solidFill>
                  <a:srgbClr val="0B1F3A"/>
                </a:solidFill>
                <a:latin typeface="Arial" pitchFamily="34" charset="0"/>
                <a:ea typeface="Arial" pitchFamily="34" charset="-122"/>
                <a:cs typeface="Arial" pitchFamily="34" charset="-120"/>
              </a:rPr>
              <a:t>6</a:t>
            </a:r>
            <a:endParaRPr lang="en-US" sz="3000" dirty="0"/>
          </a:p>
        </p:txBody>
      </p:sp>
      <p:sp>
        <p:nvSpPr>
          <p:cNvPr id="23" name="Text 21"/>
          <p:cNvSpPr txBox="1"/>
          <p:nvPr/>
        </p:nvSpPr>
        <p:spPr>
          <a:xfrm>
            <a:off x="5760720" y="4727448"/>
            <a:ext cx="1645920" cy="320040"/>
          </a:xfrm>
          <a:prstGeom prst="rect">
            <a:avLst/>
          </a:prstGeom>
          <a:noFill/>
          <a:ln/>
        </p:spPr>
        <p:txBody>
          <a:bodyPr wrap="square" lIns="0" tIns="0" rIns="0" bIns="0" rtlCol="0" anchor="t"/>
          <a:lstStyle/>
          <a:p>
            <a:pPr indent="0" marL="0">
              <a:buNone/>
            </a:pPr>
            <a:r>
              <a:rPr lang="en-US" sz="1200" dirty="0">
                <a:solidFill>
                  <a:srgbClr val="51607A"/>
                </a:solidFill>
                <a:latin typeface="Arial" pitchFamily="34" charset="0"/>
                <a:ea typeface="Arial" pitchFamily="34" charset="-122"/>
                <a:cs typeface="Arial" pitchFamily="34" charset="-120"/>
              </a:rPr>
              <a:t>Notices open</a:t>
            </a:r>
            <a:endParaRPr lang="en-US" sz="1200" dirty="0"/>
          </a:p>
        </p:txBody>
      </p:sp>
      <p:sp>
        <p:nvSpPr>
          <p:cNvPr id="24" name="Shape 22"/>
          <p:cNvSpPr/>
          <p:nvPr/>
        </p:nvSpPr>
        <p:spPr>
          <a:xfrm>
            <a:off x="868680" y="5257800"/>
            <a:ext cx="6766560" cy="457200"/>
          </a:xfrm>
          <a:prstGeom prst="roundRect">
            <a:avLst>
              <a:gd name="adj" fmla="val 24000"/>
            </a:avLst>
          </a:prstGeom>
          <a:solidFill>
            <a:srgbClr val="DDEFE7"/>
          </a:solidFill>
          <a:ln/>
        </p:spPr>
        <p:txBody>
          <a:bodyPr/>
          <a:p/>
        </p:txBody>
      </p:sp>
      <p:sp>
        <p:nvSpPr>
          <p:cNvPr id="25" name="Text 23"/>
          <p:cNvSpPr txBox="1"/>
          <p:nvPr/>
        </p:nvSpPr>
        <p:spPr>
          <a:xfrm>
            <a:off x="1051560" y="5257800"/>
            <a:ext cx="6400800" cy="457200"/>
          </a:xfrm>
          <a:prstGeom prst="rect">
            <a:avLst/>
          </a:prstGeom>
          <a:noFill/>
          <a:ln/>
        </p:spPr>
        <p:txBody>
          <a:bodyPr wrap="square" lIns="0" tIns="0" rIns="0" bIns="0" rtlCol="0" anchor="ctr"/>
          <a:lstStyle/>
          <a:p>
            <a:pPr indent="0" marL="0">
              <a:buNone/>
            </a:pPr>
            <a:r>
              <a:rPr lang="en-US" sz="1200" b="1" dirty="0">
                <a:solidFill>
                  <a:srgbClr val="0B1F3A"/>
                </a:solidFill>
                <a:latin typeface="Arial" pitchFamily="34" charset="0"/>
                <a:ea typeface="Arial" pitchFamily="34" charset="-122"/>
                <a:cs typeface="Arial" pitchFamily="34" charset="-120"/>
              </a:rPr>
              <a:t>Next deadline: GSTR-3B for September · 20 Oct · 14 clients still to file</a:t>
            </a:r>
            <a:endParaRPr lang="en-US" sz="1200" dirty="0"/>
          </a:p>
        </p:txBody>
      </p:sp>
      <p:sp>
        <p:nvSpPr>
          <p:cNvPr id="26" name="Text 24"/>
          <p:cNvSpPr txBox="1"/>
          <p:nvPr/>
        </p:nvSpPr>
        <p:spPr>
          <a:xfrm>
            <a:off x="548640" y="6016752"/>
            <a:ext cx="7406640" cy="228600"/>
          </a:xfrm>
          <a:prstGeom prst="rect">
            <a:avLst/>
          </a:prstGeom>
          <a:noFill/>
          <a:ln/>
        </p:spPr>
        <p:txBody>
          <a:bodyPr wrap="square" lIns="0" tIns="0" rIns="0" bIns="0" rtlCol="0" anchor="t"/>
          <a:lstStyle/>
          <a:p>
            <a:pPr indent="0" marL="0">
              <a:buNone/>
            </a:pPr>
            <a:r>
              <a:rPr lang="en-US" sz="1000" dirty="0">
                <a:solidFill>
                  <a:srgbClr val="51607A"/>
                </a:solidFill>
                <a:latin typeface="Arial" pitchFamily="34" charset="0"/>
                <a:ea typeface="Arial" pitchFamily="34" charset="-122"/>
                <a:cs typeface="Arial" pitchFamily="34" charset="-120"/>
              </a:rPr>
              <a:t>Illustration with sample data</a:t>
            </a:r>
            <a:endParaRPr lang="en-US" sz="1000" dirty="0"/>
          </a:p>
        </p:txBody>
      </p:sp>
      <p:sp>
        <p:nvSpPr>
          <p:cNvPr id="27" name="Shape 25"/>
          <p:cNvSpPr/>
          <p:nvPr/>
        </p:nvSpPr>
        <p:spPr>
          <a:xfrm>
            <a:off x="8275320" y="1783080"/>
            <a:ext cx="3364992" cy="4160520"/>
          </a:xfrm>
          <a:prstGeom prst="roundRect">
            <a:avLst>
              <a:gd name="adj" fmla="val 3261"/>
            </a:avLst>
          </a:prstGeom>
          <a:solidFill>
            <a:srgbClr val="0B1F3A"/>
          </a:solidFill>
          <a:ln/>
        </p:spPr>
        <p:txBody>
          <a:bodyPr/>
          <a:p/>
        </p:txBody>
      </p:sp>
      <p:sp>
        <p:nvSpPr>
          <p:cNvPr id="28" name="Text 26"/>
          <p:cNvSpPr txBox="1"/>
          <p:nvPr/>
        </p:nvSpPr>
        <p:spPr>
          <a:xfrm>
            <a:off x="8595360" y="2057400"/>
            <a:ext cx="2724912" cy="365760"/>
          </a:xfrm>
          <a:prstGeom prst="rect">
            <a:avLst/>
          </a:prstGeom>
          <a:noFill/>
          <a:ln/>
        </p:spPr>
        <p:txBody>
          <a:bodyPr wrap="square" lIns="0" tIns="0" rIns="0" bIns="0" rtlCol="0" anchor="t"/>
          <a:lstStyle/>
          <a:p>
            <a:pPr indent="0" marL="0">
              <a:buNone/>
            </a:pPr>
            <a:r>
              <a:rPr lang="en-US" sz="1600" b="1" dirty="0">
                <a:solidFill>
                  <a:srgbClr val="F2F5F9"/>
                </a:solidFill>
                <a:latin typeface="Arial" pitchFamily="34" charset="0"/>
                <a:ea typeface="Arial" pitchFamily="34" charset="-122"/>
                <a:cs typeface="Arial" pitchFamily="34" charset="-120"/>
              </a:rPr>
              <a:t>Needs your attention</a:t>
            </a:r>
            <a:endParaRPr lang="en-US" sz="1600" dirty="0"/>
          </a:p>
        </p:txBody>
      </p:sp>
      <p:sp>
        <p:nvSpPr>
          <p:cNvPr id="29" name="Shape 27"/>
          <p:cNvSpPr/>
          <p:nvPr/>
        </p:nvSpPr>
        <p:spPr>
          <a:xfrm>
            <a:off x="8595360" y="2724912"/>
            <a:ext cx="146304" cy="146304"/>
          </a:xfrm>
          <a:prstGeom prst="ellipse">
            <a:avLst/>
          </a:prstGeom>
          <a:solidFill>
            <a:srgbClr val="C2D3F7"/>
          </a:solidFill>
          <a:ln/>
        </p:spPr>
        <p:txBody>
          <a:bodyPr/>
          <a:p/>
        </p:txBody>
      </p:sp>
      <p:sp>
        <p:nvSpPr>
          <p:cNvPr id="30" name="Text 28"/>
          <p:cNvSpPr txBox="1"/>
          <p:nvPr/>
        </p:nvSpPr>
        <p:spPr>
          <a:xfrm>
            <a:off x="8869680" y="2651760"/>
            <a:ext cx="2450592" cy="640080"/>
          </a:xfrm>
          <a:prstGeom prst="rect">
            <a:avLst/>
          </a:prstGeom>
          <a:noFill/>
          <a:ln/>
        </p:spPr>
        <p:txBody>
          <a:bodyPr wrap="square" lIns="0" tIns="0" rIns="0" bIns="0" rtlCol="0" anchor="t"/>
          <a:lstStyle/>
          <a:p>
            <a:pPr indent="0" marL="0">
              <a:buNone/>
            </a:pPr>
            <a:r>
              <a:rPr lang="en-US" sz="1300" dirty="0">
                <a:solidFill>
                  <a:srgbClr val="A8B6CF"/>
                </a:solidFill>
                <a:latin typeface="Arial" pitchFamily="34" charset="0"/>
                <a:ea typeface="Arial" pitchFamily="34" charset="-122"/>
                <a:cs typeface="Arial" pitchFamily="34" charset="-120"/>
              </a:rPr>
              <a:t>Kapoor Traders: GSTR-1 overdue by 2 days</a:t>
            </a:r>
            <a:endParaRPr lang="en-US" sz="1300" dirty="0"/>
          </a:p>
        </p:txBody>
      </p:sp>
      <p:sp>
        <p:nvSpPr>
          <p:cNvPr id="31" name="Shape 29"/>
          <p:cNvSpPr/>
          <p:nvPr/>
        </p:nvSpPr>
        <p:spPr>
          <a:xfrm>
            <a:off x="8595360" y="3502152"/>
            <a:ext cx="146304" cy="146304"/>
          </a:xfrm>
          <a:prstGeom prst="ellipse">
            <a:avLst/>
          </a:prstGeom>
          <a:solidFill>
            <a:srgbClr val="C2D3F7"/>
          </a:solidFill>
          <a:ln/>
        </p:spPr>
        <p:txBody>
          <a:bodyPr/>
          <a:p/>
        </p:txBody>
      </p:sp>
      <p:sp>
        <p:nvSpPr>
          <p:cNvPr id="32" name="Text 30"/>
          <p:cNvSpPr txBox="1"/>
          <p:nvPr/>
        </p:nvSpPr>
        <p:spPr>
          <a:xfrm>
            <a:off x="8869680" y="3429000"/>
            <a:ext cx="2450592" cy="640080"/>
          </a:xfrm>
          <a:prstGeom prst="rect">
            <a:avLst/>
          </a:prstGeom>
          <a:noFill/>
          <a:ln/>
        </p:spPr>
        <p:txBody>
          <a:bodyPr wrap="square" lIns="0" tIns="0" rIns="0" bIns="0" rtlCol="0" anchor="t"/>
          <a:lstStyle/>
          <a:p>
            <a:pPr indent="0" marL="0">
              <a:buNone/>
            </a:pPr>
            <a:r>
              <a:rPr lang="en-US" sz="1300" dirty="0">
                <a:solidFill>
                  <a:srgbClr val="A8B6CF"/>
                </a:solidFill>
                <a:latin typeface="Arial" pitchFamily="34" charset="0"/>
                <a:ea typeface="Arial" pitchFamily="34" charset="-122"/>
                <a:cs typeface="Arial" pitchFamily="34" charset="-120"/>
              </a:rPr>
              <a:t>Mehta Textiles: Form 16 still pending</a:t>
            </a:r>
            <a:endParaRPr lang="en-US" sz="1300" dirty="0"/>
          </a:p>
        </p:txBody>
      </p:sp>
      <p:sp>
        <p:nvSpPr>
          <p:cNvPr id="33" name="Shape 31"/>
          <p:cNvSpPr/>
          <p:nvPr/>
        </p:nvSpPr>
        <p:spPr>
          <a:xfrm>
            <a:off x="8595360" y="4279392"/>
            <a:ext cx="146304" cy="146304"/>
          </a:xfrm>
          <a:prstGeom prst="ellipse">
            <a:avLst/>
          </a:prstGeom>
          <a:solidFill>
            <a:srgbClr val="C2D3F7"/>
          </a:solidFill>
          <a:ln/>
        </p:spPr>
        <p:txBody>
          <a:bodyPr/>
          <a:p/>
        </p:txBody>
      </p:sp>
      <p:sp>
        <p:nvSpPr>
          <p:cNvPr id="34" name="Text 32"/>
          <p:cNvSpPr txBox="1"/>
          <p:nvPr/>
        </p:nvSpPr>
        <p:spPr>
          <a:xfrm>
            <a:off x="8869680" y="4206240"/>
            <a:ext cx="2450592" cy="640080"/>
          </a:xfrm>
          <a:prstGeom prst="rect">
            <a:avLst/>
          </a:prstGeom>
          <a:noFill/>
          <a:ln/>
        </p:spPr>
        <p:txBody>
          <a:bodyPr wrap="square" lIns="0" tIns="0" rIns="0" bIns="0" rtlCol="0" anchor="t"/>
          <a:lstStyle/>
          <a:p>
            <a:pPr indent="0" marL="0">
              <a:buNone/>
            </a:pPr>
            <a:r>
              <a:rPr lang="en-US" sz="1300" dirty="0">
                <a:solidFill>
                  <a:srgbClr val="A8B6CF"/>
                </a:solidFill>
                <a:latin typeface="Arial" pitchFamily="34" charset="0"/>
                <a:ea typeface="Arial" pitchFamily="34" charset="-122"/>
                <a:cs typeface="Arial" pitchFamily="34" charset="-120"/>
              </a:rPr>
              <a:t>S.K. Builders: notice reply due in 3 days</a:t>
            </a:r>
            <a:endParaRPr lang="en-US" sz="1300" dirty="0"/>
          </a:p>
        </p:txBody>
      </p:sp>
      <p:sp>
        <p:nvSpPr>
          <p:cNvPr id="35" name="Shape 33"/>
          <p:cNvSpPr/>
          <p:nvPr/>
        </p:nvSpPr>
        <p:spPr>
          <a:xfrm>
            <a:off x="8595360" y="5056632"/>
            <a:ext cx="146304" cy="146304"/>
          </a:xfrm>
          <a:prstGeom prst="ellipse">
            <a:avLst/>
          </a:prstGeom>
          <a:solidFill>
            <a:srgbClr val="C2D3F7"/>
          </a:solidFill>
          <a:ln/>
        </p:spPr>
        <p:txBody>
          <a:bodyPr/>
          <a:p/>
        </p:txBody>
      </p:sp>
      <p:sp>
        <p:nvSpPr>
          <p:cNvPr id="36" name="Text 34"/>
          <p:cNvSpPr txBox="1"/>
          <p:nvPr/>
        </p:nvSpPr>
        <p:spPr>
          <a:xfrm>
            <a:off x="8869680" y="4983480"/>
            <a:ext cx="2450592" cy="640080"/>
          </a:xfrm>
          <a:prstGeom prst="rect">
            <a:avLst/>
          </a:prstGeom>
          <a:noFill/>
          <a:ln/>
        </p:spPr>
        <p:txBody>
          <a:bodyPr wrap="square" lIns="0" tIns="0" rIns="0" bIns="0" rtlCol="0" anchor="t"/>
          <a:lstStyle/>
          <a:p>
            <a:pPr indent="0" marL="0">
              <a:buNone/>
            </a:pPr>
            <a:r>
              <a:rPr lang="en-US" sz="1300" dirty="0">
                <a:solidFill>
                  <a:srgbClr val="A8B6CF"/>
                </a:solidFill>
                <a:latin typeface="Arial" pitchFamily="34" charset="0"/>
                <a:ea typeface="Arial" pitchFamily="34" charset="-122"/>
                <a:cs typeface="Arial" pitchFamily="34" charset="-120"/>
              </a:rPr>
              <a:t>Shah &amp; Sons: GSTR-1 ready for your approval</a:t>
            </a:r>
            <a:endParaRPr lang="en-US" sz="1300" dirty="0"/>
          </a:p>
        </p:txBody>
      </p:sp>
      <p:sp>
        <p:nvSpPr>
          <p:cNvPr id="37" name="Text 35"/>
          <p:cNvSpPr txBox="1"/>
          <p:nvPr/>
        </p:nvSpPr>
        <p:spPr>
          <a:xfrm>
            <a:off x="548640" y="6355080"/>
            <a:ext cx="9144000" cy="274320"/>
          </a:xfrm>
          <a:prstGeom prst="rect">
            <a:avLst/>
          </a:prstGeom>
          <a:noFill/>
          <a:ln/>
        </p:spPr>
        <p:txBody>
          <a:bodyPr wrap="square" lIns="0" tIns="0" rIns="0" bIns="0" rtlCol="0" anchor="t"/>
          <a:lstStyle/>
          <a:p>
            <a:pPr indent="0" marL="0">
              <a:buNone/>
            </a:pPr>
            <a:r>
              <a:rPr lang="en-US" sz="1000" dirty="0">
                <a:solidFill>
                  <a:srgbClr val="51607A"/>
                </a:solidFill>
                <a:latin typeface="Arial" pitchFamily="34" charset="0"/>
                <a:ea typeface="Arial" pitchFamily="34" charset="-122"/>
                <a:cs typeface="Arial" pitchFamily="34" charset="-120"/>
              </a:rPr>
              <a:t>InboxCA · a product by Orelu · Prepared for CA Paresh</a:t>
            </a:r>
            <a:endParaRPr lang="en-US" sz="1000" dirty="0"/>
          </a:p>
        </p:txBody>
      </p:sp>
      <p:sp>
        <p:nvSpPr>
          <p:cNvPr id="38" name="Text 36"/>
          <p:cNvSpPr txBox="1"/>
          <p:nvPr/>
        </p:nvSpPr>
        <p:spPr>
          <a:xfrm>
            <a:off x="10908792" y="6355080"/>
            <a:ext cx="731520" cy="274320"/>
          </a:xfrm>
          <a:prstGeom prst="rect">
            <a:avLst/>
          </a:prstGeom>
          <a:noFill/>
          <a:ln/>
        </p:spPr>
        <p:txBody>
          <a:bodyPr wrap="square" lIns="0" tIns="0" rIns="0" bIns="0" rtlCol="0" anchor="t"/>
          <a:lstStyle/>
          <a:p>
            <a:pPr algn="r" indent="0" marL="0">
              <a:buNone/>
            </a:pPr>
            <a:r>
              <a:rPr lang="en-US" sz="1000" dirty="0">
                <a:solidFill>
                  <a:srgbClr val="51607A"/>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200" b="1" spc="300" kern="0" dirty="0">
                <a:solidFill>
                  <a:srgbClr val="1A4BB0"/>
                </a:solidFill>
                <a:latin typeface="Arial" pitchFamily="34" charset="0"/>
                <a:ea typeface="Arial" pitchFamily="34" charset="-122"/>
                <a:cs typeface="Arial" pitchFamily="34" charset="-120"/>
              </a:rPr>
              <a:t>PEACE OF MIND</a:t>
            </a:r>
            <a:endParaRPr lang="en-US" sz="1200" dirty="0"/>
          </a:p>
        </p:txBody>
      </p:sp>
      <p:sp>
        <p:nvSpPr>
          <p:cNvPr id="3" name="Text 1"/>
          <p:cNvSpPr txBox="1"/>
          <p:nvPr/>
        </p:nvSpPr>
        <p:spPr>
          <a:xfrm>
            <a:off x="548640" y="777240"/>
            <a:ext cx="11091672" cy="685800"/>
          </a:xfrm>
          <a:prstGeom prst="rect">
            <a:avLst/>
          </a:prstGeom>
          <a:noFill/>
          <a:ln/>
        </p:spPr>
        <p:txBody>
          <a:bodyPr wrap="square" lIns="0" tIns="0" rIns="0" bIns="0" rtlCol="0" anchor="t"/>
          <a:lstStyle/>
          <a:p>
            <a:pPr indent="0" marL="0">
              <a:buNone/>
            </a:pPr>
            <a:r>
              <a:rPr lang="en-US" sz="3200" b="1" dirty="0">
                <a:solidFill>
                  <a:srgbClr val="0B1F3A"/>
                </a:solidFill>
                <a:latin typeface="Arial" pitchFamily="34" charset="0"/>
                <a:ea typeface="Arial" pitchFamily="34" charset="-122"/>
                <a:cs typeface="Arial" pitchFamily="34" charset="-120"/>
              </a:rPr>
              <a:t>You stay in control</a:t>
            </a:r>
            <a:endParaRPr lang="en-US" sz="3200" dirty="0"/>
          </a:p>
        </p:txBody>
      </p:sp>
      <p:sp>
        <p:nvSpPr>
          <p:cNvPr id="44" name="Text 34"/>
          <p:cNvSpPr txBox="1"/>
          <p:nvPr/>
        </p:nvSpPr>
        <p:spPr>
          <a:xfrm>
            <a:off x="548640" y="6355080"/>
            <a:ext cx="9144000" cy="274320"/>
          </a:xfrm>
          <a:prstGeom prst="rect">
            <a:avLst/>
          </a:prstGeom>
          <a:noFill/>
          <a:ln/>
        </p:spPr>
        <p:txBody>
          <a:bodyPr wrap="square" lIns="0" tIns="0" rIns="0" bIns="0" rtlCol="0" anchor="t"/>
          <a:lstStyle/>
          <a:p>
            <a:pPr indent="0" marL="0">
              <a:buNone/>
            </a:pPr>
            <a:r>
              <a:rPr lang="en-US" sz="1000" dirty="0">
                <a:solidFill>
                  <a:srgbClr val="51607A"/>
                </a:solidFill>
                <a:latin typeface="Arial" pitchFamily="34" charset="0"/>
                <a:ea typeface="Arial" pitchFamily="34" charset="-122"/>
                <a:cs typeface="Arial" pitchFamily="34" charset="-120"/>
              </a:rPr>
              <a:t>InboxCA · a product by Orelu · Prepared for CA Paresh</a:t>
            </a:r>
            <a:endParaRPr lang="en-US" sz="1000" dirty="0"/>
          </a:p>
        </p:txBody>
      </p:sp>
      <p:sp>
        <p:nvSpPr>
          <p:cNvPr id="45" name="Text 35"/>
          <p:cNvSpPr txBox="1"/>
          <p:nvPr/>
        </p:nvSpPr>
        <p:spPr>
          <a:xfrm>
            <a:off x="10908792" y="6355080"/>
            <a:ext cx="731520" cy="274320"/>
          </a:xfrm>
          <a:prstGeom prst="rect">
            <a:avLst/>
          </a:prstGeom>
          <a:noFill/>
          <a:ln/>
        </p:spPr>
        <p:txBody>
          <a:bodyPr wrap="square" lIns="0" tIns="0" rIns="0" bIns="0" rtlCol="0" anchor="t"/>
          <a:lstStyle/>
          <a:p>
            <a:pPr algn="r" indent="0" marL="0">
              <a:buNone/>
            </a:pPr>
            <a:r>
              <a:rPr lang="en-US" sz="1000" dirty="0">
                <a:solidFill>
                  <a:srgbClr val="51607A"/>
                </a:solidFill>
                <a:latin typeface="Arial" pitchFamily="34" charset="0"/>
                <a:ea typeface="Arial" pitchFamily="34" charset="-122"/>
                <a:cs typeface="Arial" pitchFamily="34" charset="-120"/>
              </a:rPr>
              <a:t>7</a:t>
            </a:r>
            <a:endParaRPr lang="en-US" sz="1000" dirty="0"/>
          </a:p>
        </p:txBody>
      </p:sp>
      <p:graphicFrame>
        <p:nvGraphicFramePr>
          <p:cNvPr id="900" name="Table"/>
          <p:cNvGraphicFramePr>
            <a:graphicFrameLocks noGrp="1"/>
          </p:cNvGraphicFramePr>
          <p:nvPr/>
        </p:nvGraphicFramePr>
        <p:xfrm>
          <a:off x="548640" y="1600200"/>
          <a:ext cx="11091672" cy="4270248"/>
        </p:xfrm>
        <a:graphic>
          <a:graphicData uri="http://schemas.openxmlformats.org/drawingml/2006/table">
            <a:tbl>
              <a:tblPr firstRow="1"/>
              <a:tblGrid>
                <a:gridCol w="3017520"/>
                <a:gridCol w="8074152"/>
              </a:tblGrid>
              <a:tr h="393192">
                <a:tc>
                  <a:txBody>
                    <a:bodyPr/>
                    <a:lstStyle/>
                    <a:p>
                      <a:pPr indent="0" marL="0" algn="l">
                        <a:buNone/>
                      </a:pPr>
                      <a:r>
                        <a:rPr lang="en-US" sz="1300" b="1" dirty="0">
                          <a:solidFill>
                            <a:srgbClr val="FFFFFF"/>
                          </a:solidFill>
                          <a:latin typeface="Arial" pitchFamily="34" charset="0"/>
                          <a:ea typeface="Arial" pitchFamily="34" charset="-122"/>
                          <a:cs typeface="Arial" pitchFamily="34" charset="-120"/>
                        </a:rPr>
                        <a:t>What you control</a:t>
                      </a:r>
                    </a:p>
                  </a:txBody>
                  <a:tcPr marL="137160" marR="137160" marT="64008" marB="64008" anchor="ctr">
                    <a:lnL w="9525">
                      <a:noFill/>
                    </a:lnL>
                    <a:lnR w="9525">
                      <a:noFill/>
                    </a:lnR>
                    <a:lnT w="9525">
                      <a:noFill/>
                    </a:lnT>
                    <a:lnB w="9525">
                      <a:noFill/>
                    </a:lnB>
                    <a:solidFill>
                      <a:srgbClr val="0B1F3A"/>
                    </a:solidFill>
                  </a:tcPr>
                </a:tc>
                <a:tc>
                  <a:txBody>
                    <a:bodyPr/>
                    <a:lstStyle/>
                    <a:p>
                      <a:pPr indent="0" marL="0" algn="l">
                        <a:buNone/>
                      </a:pPr>
                      <a:r>
                        <a:rPr lang="en-US" sz="1300" b="1" dirty="0">
                          <a:solidFill>
                            <a:srgbClr val="FFFFFF"/>
                          </a:solidFill>
                          <a:latin typeface="Arial" pitchFamily="34" charset="0"/>
                          <a:ea typeface="Arial" pitchFamily="34" charset="-122"/>
                          <a:cs typeface="Arial" pitchFamily="34" charset="-120"/>
                        </a:rPr>
                        <a:t>What it means</a:t>
                      </a:r>
                    </a:p>
                  </a:txBody>
                  <a:tcPr marL="137160" marR="137160" marT="64008" marB="64008" anchor="ctr">
                    <a:lnL w="9525">
                      <a:noFill/>
                    </a:lnL>
                    <a:lnR w="9525">
                      <a:noFill/>
                    </a:lnR>
                    <a:lnT w="9525">
                      <a:noFill/>
                    </a:lnT>
                    <a:lnB w="9525">
                      <a:noFill/>
                    </a:lnB>
                    <a:solidFill>
                      <a:srgbClr val="0B1F3A"/>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Keep using your own drive</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Link your firm's own OneDrive or Dropbox to InboxCA. Your old files stay there and InboxCA puts them in order. Only you and InboxCA can open them.</a:t>
                      </a:r>
                    </a:p>
                  </a:txBody>
                  <a:tcPr marL="137160" marR="137160" marT="64008" marB="64008" anchor="ctr">
                    <a:lnL w="9525">
                      <a:noFill/>
                    </a:lnL>
                    <a:lnR w="9525">
                      <a:noFill/>
                    </a:lnR>
                    <a:lnT w="9525">
                      <a:noFill/>
                    </a:lnT>
                    <a:lnB w="9525">
                      <a:solidFill>
                        <a:srgbClr val="D9E0EA"/>
                      </a:solidFill>
                    </a:lnB>
                    <a:solidFill>
                      <a:srgbClr val="FFFFFF"/>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You approve what it can do</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You see what InboxCA will do with your drive and tick to agree. You can take it back any time.</a:t>
                      </a:r>
                    </a:p>
                  </a:txBody>
                  <a:tcPr marL="137160" marR="137160" marT="64008" marB="64008" anchor="ctr">
                    <a:lnL w="9525">
                      <a:noFill/>
                    </a:lnL>
                    <a:lnR w="9525">
                      <a:noFill/>
                    </a:lnR>
                    <a:lnT w="9525">
                      <a:noFill/>
                    </a:lnT>
                    <a:lnB w="9525">
                      <a:solidFill>
                        <a:srgbClr val="D9E0EA"/>
                      </a:solidFill>
                    </a:lnB>
                    <a:solidFill>
                      <a:srgbClr val="FFFFFF"/>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Private papers need your OK</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Routine papers (acknowledgements, challans) go to the client by themselves. Private ones (financial statements, audit reports, PAN, Aadhaar, bank papers) wait for one click. You choose.</a:t>
                      </a:r>
                    </a:p>
                  </a:txBody>
                  <a:tcPr marL="137160" marR="137160" marT="64008" marB="64008" anchor="ctr">
                    <a:lnL w="9525">
                      <a:noFill/>
                    </a:lnL>
                    <a:lnR w="9525">
                      <a:noFill/>
                    </a:lnR>
                    <a:lnT w="9525">
                      <a:noFill/>
                    </a:lnT>
                    <a:lnB w="9525">
                      <a:solidFill>
                        <a:srgbClr val="D9E0EA"/>
                      </a:solidFill>
                    </a:lnB>
                    <a:solidFill>
                      <a:srgbClr val="FFFFFF"/>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Staff work only from your office</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One switch: staff use InboxCA only on PCs you approved, in your office, in your hours.</a:t>
                      </a:r>
                    </a:p>
                  </a:txBody>
                  <a:tcPr marL="137160" marR="137160" marT="64008" marB="64008" anchor="ctr">
                    <a:lnL w="9525">
                      <a:noFill/>
                    </a:lnL>
                    <a:lnR w="9525">
                      <a:noFill/>
                    </a:lnR>
                    <a:lnT w="9525">
                      <a:noFill/>
                    </a:lnT>
                    <a:lnB w="9525">
                      <a:solidFill>
                        <a:srgbClr val="D9E0EA"/>
                      </a:solidFill>
                    </a:lnB>
                    <a:solidFill>
                      <a:srgbClr val="FFFFFF"/>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Staff can view, not change</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Staff view files and check forms. Any change, download or delete needs your OK.</a:t>
                      </a:r>
                    </a:p>
                  </a:txBody>
                  <a:tcPr marL="137160" marR="137160" marT="64008" marB="64008" anchor="ctr">
                    <a:lnL w="9525">
                      <a:noFill/>
                    </a:lnL>
                    <a:lnR w="9525">
                      <a:noFill/>
                    </a:lnR>
                    <a:lnT w="9525">
                      <a:noFill/>
                    </a:lnT>
                    <a:lnB w="9525">
                      <a:solidFill>
                        <a:srgbClr val="D9E0EA"/>
                      </a:solidFill>
                    </a:lnB>
                    <a:solidFill>
                      <a:srgbClr val="FFFFFF"/>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Deleted files can be restored</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A deleted file is kept for 30 days and can be brought back.</a:t>
                      </a:r>
                    </a:p>
                  </a:txBody>
                  <a:tcPr marL="137160" marR="137160" marT="64008" marB="64008" anchor="ctr">
                    <a:lnL w="9525">
                      <a:noFill/>
                    </a:lnL>
                    <a:lnR w="9525">
                      <a:noFill/>
                    </a:lnR>
                    <a:lnT w="9525">
                      <a:noFill/>
                    </a:lnT>
                    <a:lnB w="9525">
                      <a:solidFill>
                        <a:srgbClr val="D9E0EA"/>
                      </a:solidFill>
                    </a:lnB>
                    <a:solidFill>
                      <a:srgbClr val="FFFFFF"/>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Your emails stay with you</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Clients hear only from your firm's own email. InboxCA keeps no copy of your emails.</a:t>
                      </a:r>
                    </a:p>
                  </a:txBody>
                  <a:tcPr marL="137160" marR="137160" marT="64008" marB="64008" anchor="ctr">
                    <a:lnL w="9525">
                      <a:noFill/>
                    </a:lnL>
                    <a:lnR w="9525">
                      <a:noFill/>
                    </a:lnR>
                    <a:lnT w="9525">
                      <a:noFill/>
                    </a:lnT>
                    <a:lnB w="9525">
                      <a:solidFill>
                        <a:srgbClr val="D9E0EA"/>
                      </a:solidFill>
                    </a:lnB>
                    <a:solidFill>
                      <a:srgbClr val="FFFFFF"/>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Turn off anything, anytime</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Stop reminders for any client, or stop the email assistant, at any time.</a:t>
                      </a:r>
                    </a:p>
                  </a:txBody>
                  <a:tcPr marL="137160" marR="137160" marT="64008" marB="64008" anchor="ctr">
                    <a:lnL w="9525">
                      <a:noFill/>
                    </a:lnL>
                    <a:lnR w="9525">
                      <a:noFill/>
                    </a:lnR>
                    <a:lnT w="9525">
                      <a:noFill/>
                    </a:lnT>
                    <a:lnB w="9525">
                      <a:solidFill>
                        <a:srgbClr val="D9E0EA"/>
                      </a:solidFill>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200" b="1" spc="300" kern="0" dirty="0">
                <a:solidFill>
                  <a:srgbClr val="1A4BB0"/>
                </a:solidFill>
                <a:latin typeface="Arial" pitchFamily="34" charset="0"/>
                <a:ea typeface="Arial" pitchFamily="34" charset="-122"/>
                <a:cs typeface="Arial" pitchFamily="34" charset="-120"/>
              </a:rPr>
              <a:t>GETTING STARTED · DO IT YOURSELF</a:t>
            </a:r>
            <a:endParaRPr lang="en-US" sz="1200" dirty="0"/>
          </a:p>
        </p:txBody>
      </p:sp>
      <p:sp>
        <p:nvSpPr>
          <p:cNvPr id="3" name="Text 1"/>
          <p:cNvSpPr txBox="1"/>
          <p:nvPr/>
        </p:nvSpPr>
        <p:spPr>
          <a:xfrm>
            <a:off x="548640" y="777240"/>
            <a:ext cx="11091672" cy="685800"/>
          </a:xfrm>
          <a:prstGeom prst="rect">
            <a:avLst/>
          </a:prstGeom>
          <a:noFill/>
          <a:ln/>
        </p:spPr>
        <p:txBody>
          <a:bodyPr wrap="square" lIns="0" tIns="0" rIns="0" bIns="0" rtlCol="0" anchor="t"/>
          <a:lstStyle/>
          <a:p>
            <a:pPr indent="0" marL="0">
              <a:buNone/>
            </a:pPr>
            <a:r>
              <a:rPr lang="en-US" sz="3200" b="1" dirty="0">
                <a:solidFill>
                  <a:srgbClr val="0B1F3A"/>
                </a:solidFill>
                <a:latin typeface="Arial" pitchFamily="34" charset="0"/>
                <a:ea typeface="Arial" pitchFamily="34" charset="-122"/>
                <a:cs typeface="Arial" pitchFamily="34" charset="-120"/>
              </a:rPr>
              <a:t>Set up online, yourself, at your own pace</a:t>
            </a:r>
            <a:endParaRPr lang="en-US" sz="3200" dirty="0"/>
          </a:p>
        </p:txBody>
      </p:sp>
      <p:sp>
        <p:nvSpPr>
          <p:cNvPr id="4" name="Shape 2"/>
          <p:cNvSpPr/>
          <p:nvPr/>
        </p:nvSpPr>
        <p:spPr>
          <a:xfrm>
            <a:off x="548640" y="1737360"/>
            <a:ext cx="11091672" cy="548640"/>
          </a:xfrm>
          <a:prstGeom prst="roundRect">
            <a:avLst>
              <a:gd name="adj" fmla="val 20000"/>
            </a:avLst>
          </a:prstGeom>
          <a:solidFill>
            <a:srgbClr val="FFFFFF"/>
          </a:solidFill>
          <a:ln w="12700">
            <a:solidFill>
              <a:srgbClr val="D9E0EA"/>
            </a:solidFill>
            <a:prstDash val="solid"/>
          </a:ln>
        </p:spPr>
        <p:txBody>
          <a:bodyPr/>
          <a:p/>
        </p:txBody>
      </p:sp>
      <p:sp>
        <p:nvSpPr>
          <p:cNvPr id="5" name="Shape 3"/>
          <p:cNvSpPr/>
          <p:nvPr/>
        </p:nvSpPr>
        <p:spPr>
          <a:xfrm>
            <a:off x="685800" y="1801368"/>
            <a:ext cx="420624" cy="420624"/>
          </a:xfrm>
          <a:prstGeom prst="ellipse">
            <a:avLst/>
          </a:prstGeom>
          <a:solidFill>
            <a:srgbClr val="E3EAF5"/>
          </a:solidFill>
          <a:ln/>
        </p:spPr>
        <p:txBody>
          <a:bodyPr/>
          <a:p/>
        </p:txBody>
      </p:sp>
      <p:pic>
        <p:nvPicPr>
          <p:cNvPr id="6" name="Image 0" descr="preencoded.png">    </p:cNvPr>
          <p:cNvPicPr>
            <a:picLocks noChangeAspect="1"/>
          </p:cNvPicPr>
          <p:nvPr/>
        </p:nvPicPr>
        <p:blipFill>
          <a:blip r:embed="rId1"/>
          <a:stretch>
            <a:fillRect/>
          </a:stretch>
        </p:blipFill>
        <p:spPr>
          <a:xfrm>
            <a:off x="790956" y="1906524"/>
            <a:ext cx="210312" cy="210312"/>
          </a:xfrm>
          <a:prstGeom prst="rect">
            <a:avLst/>
          </a:prstGeom>
        </p:spPr>
      </p:pic>
      <p:sp>
        <p:nvSpPr>
          <p:cNvPr id="7" name="Text 4"/>
          <p:cNvSpPr txBox="1"/>
          <p:nvPr/>
        </p:nvSpPr>
        <p:spPr>
          <a:xfrm>
            <a:off x="1325880" y="1737360"/>
            <a:ext cx="3566160" cy="548640"/>
          </a:xfrm>
          <a:prstGeom prst="rect">
            <a:avLst/>
          </a:prstGeom>
          <a:noFill/>
          <a:ln/>
        </p:spPr>
        <p:txBody>
          <a:bodyPr wrap="square" lIns="0" tIns="0" rIns="0" bIns="0" rtlCol="0" anchor="ctr"/>
          <a:lstStyle/>
          <a:p>
            <a:pPr indent="0" marL="0">
              <a:buNone/>
            </a:pPr>
            <a:r>
              <a:rPr lang="en-US" sz="1500" b="1" dirty="0">
                <a:solidFill>
                  <a:srgbClr val="0B1F3A"/>
                </a:solidFill>
                <a:latin typeface="Arial" pitchFamily="34" charset="0"/>
                <a:ea typeface="Arial" pitchFamily="34" charset="-122"/>
                <a:cs typeface="Arial" pitchFamily="34" charset="-120"/>
              </a:rPr>
              <a:t>Sign up</a:t>
            </a:r>
            <a:endParaRPr lang="en-US" sz="1500" dirty="0"/>
          </a:p>
        </p:txBody>
      </p:sp>
      <p:sp>
        <p:nvSpPr>
          <p:cNvPr id="8" name="Text 5"/>
          <p:cNvSpPr txBox="1"/>
          <p:nvPr/>
        </p:nvSpPr>
        <p:spPr>
          <a:xfrm>
            <a:off x="5120640" y="1737360"/>
            <a:ext cx="6291072" cy="548640"/>
          </a:xfrm>
          <a:prstGeom prst="rect">
            <a:avLst/>
          </a:prstGeom>
          <a:noFill/>
          <a:ln/>
        </p:spPr>
        <p:txBody>
          <a:bodyPr wrap="square" lIns="0" tIns="0" rIns="0" bIns="0" rtlCol="0" anchor="ctr"/>
          <a:lstStyle/>
          <a:p>
            <a:pPr indent="0" marL="0">
              <a:buNone/>
            </a:pPr>
            <a:r>
              <a:rPr lang="en-US" sz="1300" dirty="0">
                <a:solidFill>
                  <a:srgbClr val="51607A"/>
                </a:solidFill>
                <a:latin typeface="Arial" pitchFamily="34" charset="0"/>
                <a:ea typeface="Arial" pitchFamily="34" charset="-122"/>
                <a:cs typeface="Arial" pitchFamily="34" charset="-120"/>
              </a:rPr>
              <a:t>Sign up and pay on the website. Your InboxCA link comes at once. You choose who can open data, from where and when.</a:t>
            </a:r>
            <a:endParaRPr lang="en-US" sz="1300" dirty="0"/>
          </a:p>
        </p:txBody>
      </p:sp>
      <p:sp>
        <p:nvSpPr>
          <p:cNvPr id="9" name="Shape 6"/>
          <p:cNvSpPr/>
          <p:nvPr/>
        </p:nvSpPr>
        <p:spPr>
          <a:xfrm>
            <a:off x="548640" y="2377440"/>
            <a:ext cx="11091672" cy="548640"/>
          </a:xfrm>
          <a:prstGeom prst="roundRect">
            <a:avLst>
              <a:gd name="adj" fmla="val 20000"/>
            </a:avLst>
          </a:prstGeom>
          <a:solidFill>
            <a:srgbClr val="F2F5F9"/>
          </a:solidFill>
          <a:ln/>
        </p:spPr>
        <p:txBody>
          <a:bodyPr/>
          <a:p/>
        </p:txBody>
      </p:sp>
      <p:sp>
        <p:nvSpPr>
          <p:cNvPr id="10" name="Shape 7"/>
          <p:cNvSpPr/>
          <p:nvPr/>
        </p:nvSpPr>
        <p:spPr>
          <a:xfrm>
            <a:off x="685800" y="2441448"/>
            <a:ext cx="420624" cy="420624"/>
          </a:xfrm>
          <a:prstGeom prst="ellipse">
            <a:avLst/>
          </a:prstGeom>
          <a:solidFill>
            <a:srgbClr val="E3EAF5"/>
          </a:solidFill>
          <a:ln/>
        </p:spPr>
        <p:txBody>
          <a:bodyPr/>
          <a:p/>
        </p:txBody>
      </p:sp>
      <p:pic>
        <p:nvPicPr>
          <p:cNvPr id="11" name="Image 1" descr="preencoded.png">    </p:cNvPr>
          <p:cNvPicPr>
            <a:picLocks noChangeAspect="1"/>
          </p:cNvPicPr>
          <p:nvPr/>
        </p:nvPicPr>
        <p:blipFill>
          <a:blip r:embed="rId2"/>
          <a:stretch>
            <a:fillRect/>
          </a:stretch>
        </p:blipFill>
        <p:spPr>
          <a:xfrm>
            <a:off x="790956" y="2546604"/>
            <a:ext cx="210312" cy="210312"/>
          </a:xfrm>
          <a:prstGeom prst="rect">
            <a:avLst/>
          </a:prstGeom>
        </p:spPr>
      </p:pic>
      <p:sp>
        <p:nvSpPr>
          <p:cNvPr id="12" name="Text 8"/>
          <p:cNvSpPr txBox="1"/>
          <p:nvPr/>
        </p:nvSpPr>
        <p:spPr>
          <a:xfrm>
            <a:off x="1325880" y="2377440"/>
            <a:ext cx="3566160" cy="548640"/>
          </a:xfrm>
          <a:prstGeom prst="rect">
            <a:avLst/>
          </a:prstGeom>
          <a:noFill/>
          <a:ln/>
        </p:spPr>
        <p:txBody>
          <a:bodyPr wrap="square" lIns="0" tIns="0" rIns="0" bIns="0" rtlCol="0" anchor="ctr"/>
          <a:lstStyle/>
          <a:p>
            <a:pPr indent="0" marL="0">
              <a:buNone/>
            </a:pPr>
            <a:r>
              <a:rPr lang="en-US" sz="1500" b="1" dirty="0">
                <a:solidFill>
                  <a:srgbClr val="0B1F3A"/>
                </a:solidFill>
                <a:latin typeface="Arial" pitchFamily="34" charset="0"/>
                <a:ea typeface="Arial" pitchFamily="34" charset="-122"/>
                <a:cs typeface="Arial" pitchFamily="34" charset="-120"/>
              </a:rPr>
              <a:t>Your client list</a:t>
            </a:r>
            <a:endParaRPr lang="en-US" sz="1500" dirty="0"/>
          </a:p>
        </p:txBody>
      </p:sp>
      <p:sp>
        <p:nvSpPr>
          <p:cNvPr id="13" name="Text 9"/>
          <p:cNvSpPr txBox="1"/>
          <p:nvPr/>
        </p:nvSpPr>
        <p:spPr>
          <a:xfrm>
            <a:off x="5120640" y="2377440"/>
            <a:ext cx="6291072" cy="548640"/>
          </a:xfrm>
          <a:prstGeom prst="rect">
            <a:avLst/>
          </a:prstGeom>
          <a:noFill/>
          <a:ln/>
        </p:spPr>
        <p:txBody>
          <a:bodyPr wrap="square" lIns="0" tIns="0" rIns="0" bIns="0" rtlCol="0" anchor="ctr"/>
          <a:lstStyle/>
          <a:p>
            <a:pPr indent="0" marL="0">
              <a:buNone/>
            </a:pPr>
            <a:r>
              <a:rPr lang="en-US" sz="1300" dirty="0">
                <a:solidFill>
                  <a:srgbClr val="51607A"/>
                </a:solidFill>
                <a:latin typeface="Arial" pitchFamily="34" charset="0"/>
                <a:ea typeface="Arial" pitchFamily="34" charset="-122"/>
                <a:cs typeface="Arial" pitchFamily="34" charset="-120"/>
              </a:rPr>
              <a:t>Upload your Excel sheet of client names, PAN, GSTIN, phone, email and services. InboxCA checks it and shows rows that need fixing.</a:t>
            </a:r>
            <a:endParaRPr lang="en-US" sz="1300" dirty="0"/>
          </a:p>
        </p:txBody>
      </p:sp>
      <p:sp>
        <p:nvSpPr>
          <p:cNvPr id="14" name="Shape 10"/>
          <p:cNvSpPr/>
          <p:nvPr/>
        </p:nvSpPr>
        <p:spPr>
          <a:xfrm>
            <a:off x="548640" y="3017520"/>
            <a:ext cx="11091672" cy="548640"/>
          </a:xfrm>
          <a:prstGeom prst="roundRect">
            <a:avLst>
              <a:gd name="adj" fmla="val 20000"/>
            </a:avLst>
          </a:prstGeom>
          <a:solidFill>
            <a:srgbClr val="FFFFFF"/>
          </a:solidFill>
          <a:ln w="12700">
            <a:solidFill>
              <a:srgbClr val="D9E0EA"/>
            </a:solidFill>
            <a:prstDash val="solid"/>
          </a:ln>
        </p:spPr>
        <p:txBody>
          <a:bodyPr/>
          <a:p/>
        </p:txBody>
      </p:sp>
      <p:sp>
        <p:nvSpPr>
          <p:cNvPr id="15" name="Shape 11"/>
          <p:cNvSpPr/>
          <p:nvPr/>
        </p:nvSpPr>
        <p:spPr>
          <a:xfrm>
            <a:off x="685800" y="3081528"/>
            <a:ext cx="420624" cy="420624"/>
          </a:xfrm>
          <a:prstGeom prst="ellipse">
            <a:avLst/>
          </a:prstGeom>
          <a:solidFill>
            <a:srgbClr val="E3EAF5"/>
          </a:solidFill>
          <a:ln/>
        </p:spPr>
        <p:txBody>
          <a:bodyPr/>
          <a:p/>
        </p:txBody>
      </p:sp>
      <p:pic>
        <p:nvPicPr>
          <p:cNvPr id="16" name="Image 2" descr="preencoded.png">    </p:cNvPr>
          <p:cNvPicPr>
            <a:picLocks noChangeAspect="1"/>
          </p:cNvPicPr>
          <p:nvPr/>
        </p:nvPicPr>
        <p:blipFill>
          <a:blip r:embed="rId3"/>
          <a:stretch>
            <a:fillRect/>
          </a:stretch>
        </p:blipFill>
        <p:spPr>
          <a:xfrm>
            <a:off x="790956" y="3186684"/>
            <a:ext cx="210312" cy="210312"/>
          </a:xfrm>
          <a:prstGeom prst="rect">
            <a:avLst/>
          </a:prstGeom>
        </p:spPr>
      </p:pic>
      <p:sp>
        <p:nvSpPr>
          <p:cNvPr id="17" name="Text 12"/>
          <p:cNvSpPr txBox="1"/>
          <p:nvPr/>
        </p:nvSpPr>
        <p:spPr>
          <a:xfrm>
            <a:off x="1325880" y="3017520"/>
            <a:ext cx="3566160" cy="548640"/>
          </a:xfrm>
          <a:prstGeom prst="rect">
            <a:avLst/>
          </a:prstGeom>
          <a:noFill/>
          <a:ln/>
        </p:spPr>
        <p:txBody>
          <a:bodyPr wrap="square" lIns="0" tIns="0" rIns="0" bIns="0" rtlCol="0" anchor="ctr"/>
          <a:lstStyle/>
          <a:p>
            <a:pPr indent="0" marL="0">
              <a:buNone/>
            </a:pPr>
            <a:r>
              <a:rPr lang="en-US" sz="1500" b="1" dirty="0">
                <a:solidFill>
                  <a:srgbClr val="0B1F3A"/>
                </a:solidFill>
                <a:latin typeface="Arial" pitchFamily="34" charset="0"/>
                <a:ea typeface="Arial" pitchFamily="34" charset="-122"/>
                <a:cs typeface="Arial" pitchFamily="34" charset="-120"/>
              </a:rPr>
              <a:t>Your email</a:t>
            </a:r>
            <a:endParaRPr lang="en-US" sz="1500" dirty="0"/>
          </a:p>
        </p:txBody>
      </p:sp>
      <p:sp>
        <p:nvSpPr>
          <p:cNvPr id="18" name="Text 13"/>
          <p:cNvSpPr txBox="1"/>
          <p:nvPr/>
        </p:nvSpPr>
        <p:spPr>
          <a:xfrm>
            <a:off x="5120640" y="3017520"/>
            <a:ext cx="6291072" cy="548640"/>
          </a:xfrm>
          <a:prstGeom prst="rect">
            <a:avLst/>
          </a:prstGeom>
          <a:noFill/>
          <a:ln/>
        </p:spPr>
        <p:txBody>
          <a:bodyPr wrap="square" lIns="0" tIns="0" rIns="0" bIns="0" rtlCol="0" anchor="ctr"/>
          <a:lstStyle/>
          <a:p>
            <a:pPr indent="0" marL="0">
              <a:buNone/>
            </a:pPr>
            <a:r>
              <a:rPr lang="en-US" sz="1300" dirty="0">
                <a:solidFill>
                  <a:srgbClr val="51607A"/>
                </a:solidFill>
                <a:latin typeface="Arial" pitchFamily="34" charset="0"/>
                <a:ea typeface="Arial" pitchFamily="34" charset="-122"/>
                <a:cs typeface="Arial" pitchFamily="34" charset="-120"/>
              </a:rPr>
              <a:t>Connect your firm's email in a few clicks. InboxCA tests sending and receiving before it starts.</a:t>
            </a:r>
            <a:endParaRPr lang="en-US" sz="1300" dirty="0"/>
          </a:p>
        </p:txBody>
      </p:sp>
      <p:sp>
        <p:nvSpPr>
          <p:cNvPr id="19" name="Shape 14"/>
          <p:cNvSpPr/>
          <p:nvPr/>
        </p:nvSpPr>
        <p:spPr>
          <a:xfrm>
            <a:off x="548640" y="3657600"/>
            <a:ext cx="11091672" cy="548640"/>
          </a:xfrm>
          <a:prstGeom prst="roundRect">
            <a:avLst>
              <a:gd name="adj" fmla="val 20000"/>
            </a:avLst>
          </a:prstGeom>
          <a:solidFill>
            <a:srgbClr val="F2F5F9"/>
          </a:solidFill>
          <a:ln/>
        </p:spPr>
        <p:txBody>
          <a:bodyPr/>
          <a:p/>
        </p:txBody>
      </p:sp>
      <p:sp>
        <p:nvSpPr>
          <p:cNvPr id="20" name="Shape 15"/>
          <p:cNvSpPr/>
          <p:nvPr/>
        </p:nvSpPr>
        <p:spPr>
          <a:xfrm>
            <a:off x="685800" y="3721608"/>
            <a:ext cx="420624" cy="420624"/>
          </a:xfrm>
          <a:prstGeom prst="ellipse">
            <a:avLst/>
          </a:prstGeom>
          <a:solidFill>
            <a:srgbClr val="E3EAF5"/>
          </a:solidFill>
          <a:ln/>
        </p:spPr>
        <p:txBody>
          <a:bodyPr/>
          <a:p/>
        </p:txBody>
      </p:sp>
      <p:pic>
        <p:nvPicPr>
          <p:cNvPr id="21" name="Image 3" descr="preencoded.png">    </p:cNvPr>
          <p:cNvPicPr>
            <a:picLocks noChangeAspect="1"/>
          </p:cNvPicPr>
          <p:nvPr/>
        </p:nvPicPr>
        <p:blipFill>
          <a:blip r:embed="rId4"/>
          <a:stretch>
            <a:fillRect/>
          </a:stretch>
        </p:blipFill>
        <p:spPr>
          <a:xfrm>
            <a:off x="790956" y="3826764"/>
            <a:ext cx="210312" cy="210312"/>
          </a:xfrm>
          <a:prstGeom prst="rect">
            <a:avLst/>
          </a:prstGeom>
        </p:spPr>
      </p:pic>
      <p:sp>
        <p:nvSpPr>
          <p:cNvPr id="22" name="Text 16"/>
          <p:cNvSpPr txBox="1"/>
          <p:nvPr/>
        </p:nvSpPr>
        <p:spPr>
          <a:xfrm>
            <a:off x="1325880" y="3657600"/>
            <a:ext cx="3566160" cy="548640"/>
          </a:xfrm>
          <a:prstGeom prst="rect">
            <a:avLst/>
          </a:prstGeom>
          <a:noFill/>
          <a:ln/>
        </p:spPr>
        <p:txBody>
          <a:bodyPr wrap="square" lIns="0" tIns="0" rIns="0" bIns="0" rtlCol="0" anchor="ctr"/>
          <a:lstStyle/>
          <a:p>
            <a:pPr indent="0" marL="0">
              <a:buNone/>
            </a:pPr>
            <a:r>
              <a:rPr lang="en-US" sz="1500" b="1" dirty="0">
                <a:solidFill>
                  <a:srgbClr val="0B1F3A"/>
                </a:solidFill>
                <a:latin typeface="Arial" pitchFamily="34" charset="0"/>
                <a:ea typeface="Arial" pitchFamily="34" charset="-122"/>
                <a:cs typeface="Arial" pitchFamily="34" charset="-120"/>
              </a:rPr>
              <a:t>Your office and hours</a:t>
            </a:r>
            <a:endParaRPr lang="en-US" sz="1500" dirty="0"/>
          </a:p>
        </p:txBody>
      </p:sp>
      <p:sp>
        <p:nvSpPr>
          <p:cNvPr id="23" name="Text 17"/>
          <p:cNvSpPr txBox="1"/>
          <p:nvPr/>
        </p:nvSpPr>
        <p:spPr>
          <a:xfrm>
            <a:off x="5120640" y="3657600"/>
            <a:ext cx="6291072" cy="548640"/>
          </a:xfrm>
          <a:prstGeom prst="rect">
            <a:avLst/>
          </a:prstGeom>
          <a:noFill/>
          <a:ln/>
        </p:spPr>
        <p:txBody>
          <a:bodyPr wrap="square" lIns="0" tIns="0" rIns="0" bIns="0" rtlCol="0" anchor="ctr"/>
          <a:lstStyle/>
          <a:p>
            <a:pPr indent="0" marL="0">
              <a:buNone/>
            </a:pPr>
            <a:r>
              <a:rPr lang="en-US" sz="1300" dirty="0">
                <a:solidFill>
                  <a:srgbClr val="51607A"/>
                </a:solidFill>
                <a:latin typeface="Arial" pitchFamily="34" charset="0"/>
                <a:ea typeface="Arial" pitchFamily="34" charset="-122"/>
                <a:cs typeface="Arial" pitchFamily="34" charset="-120"/>
              </a:rPr>
              <a:t>If you want, switch on office-only use, say yes to your PCs with one tap each, and set your working days, timings and holidays.</a:t>
            </a:r>
            <a:endParaRPr lang="en-US" sz="1300" dirty="0"/>
          </a:p>
        </p:txBody>
      </p:sp>
      <p:sp>
        <p:nvSpPr>
          <p:cNvPr id="24" name="Shape 18"/>
          <p:cNvSpPr/>
          <p:nvPr/>
        </p:nvSpPr>
        <p:spPr>
          <a:xfrm>
            <a:off x="548640" y="4297680"/>
            <a:ext cx="11091672" cy="548640"/>
          </a:xfrm>
          <a:prstGeom prst="roundRect">
            <a:avLst>
              <a:gd name="adj" fmla="val 20000"/>
            </a:avLst>
          </a:prstGeom>
          <a:solidFill>
            <a:srgbClr val="FFFFFF"/>
          </a:solidFill>
          <a:ln w="12700">
            <a:solidFill>
              <a:srgbClr val="D9E0EA"/>
            </a:solidFill>
            <a:prstDash val="solid"/>
          </a:ln>
        </p:spPr>
        <p:txBody>
          <a:bodyPr/>
          <a:p/>
        </p:txBody>
      </p:sp>
      <p:sp>
        <p:nvSpPr>
          <p:cNvPr id="25" name="Shape 19"/>
          <p:cNvSpPr/>
          <p:nvPr/>
        </p:nvSpPr>
        <p:spPr>
          <a:xfrm>
            <a:off x="685800" y="4361688"/>
            <a:ext cx="420624" cy="420624"/>
          </a:xfrm>
          <a:prstGeom prst="ellipse">
            <a:avLst/>
          </a:prstGeom>
          <a:solidFill>
            <a:srgbClr val="E3EAF5"/>
          </a:solidFill>
          <a:ln/>
        </p:spPr>
        <p:txBody>
          <a:bodyPr/>
          <a:p/>
        </p:txBody>
      </p:sp>
      <p:pic>
        <p:nvPicPr>
          <p:cNvPr id="26" name="Image 4" descr="preencoded.png">    </p:cNvPr>
          <p:cNvPicPr>
            <a:picLocks noChangeAspect="1"/>
          </p:cNvPicPr>
          <p:nvPr/>
        </p:nvPicPr>
        <p:blipFill>
          <a:blip r:embed="rId5"/>
          <a:stretch>
            <a:fillRect/>
          </a:stretch>
        </p:blipFill>
        <p:spPr>
          <a:xfrm>
            <a:off x="790956" y="4466844"/>
            <a:ext cx="210312" cy="210312"/>
          </a:xfrm>
          <a:prstGeom prst="rect">
            <a:avLst/>
          </a:prstGeom>
        </p:spPr>
      </p:pic>
      <p:sp>
        <p:nvSpPr>
          <p:cNvPr id="27" name="Text 20"/>
          <p:cNvSpPr txBox="1"/>
          <p:nvPr/>
        </p:nvSpPr>
        <p:spPr>
          <a:xfrm>
            <a:off x="1325880" y="4297680"/>
            <a:ext cx="3566160" cy="548640"/>
          </a:xfrm>
          <a:prstGeom prst="rect">
            <a:avLst/>
          </a:prstGeom>
          <a:noFill/>
          <a:ln/>
        </p:spPr>
        <p:txBody>
          <a:bodyPr wrap="square" lIns="0" tIns="0" rIns="0" bIns="0" rtlCol="0" anchor="ctr"/>
          <a:lstStyle/>
          <a:p>
            <a:pPr indent="0" marL="0">
              <a:buNone/>
            </a:pPr>
            <a:r>
              <a:rPr lang="en-US" sz="1500" b="1" dirty="0">
                <a:solidFill>
                  <a:srgbClr val="0B1F3A"/>
                </a:solidFill>
                <a:latin typeface="Arial" pitchFamily="34" charset="0"/>
                <a:ea typeface="Arial" pitchFamily="34" charset="-122"/>
                <a:cs typeface="Arial" pitchFamily="34" charset="-120"/>
              </a:rPr>
              <a:t>Your team</a:t>
            </a:r>
            <a:endParaRPr lang="en-US" sz="1500" dirty="0"/>
          </a:p>
        </p:txBody>
      </p:sp>
      <p:sp>
        <p:nvSpPr>
          <p:cNvPr id="28" name="Text 21"/>
          <p:cNvSpPr txBox="1"/>
          <p:nvPr/>
        </p:nvSpPr>
        <p:spPr>
          <a:xfrm>
            <a:off x="5120640" y="4297680"/>
            <a:ext cx="6291072" cy="548640"/>
          </a:xfrm>
          <a:prstGeom prst="rect">
            <a:avLst/>
          </a:prstGeom>
          <a:noFill/>
          <a:ln/>
        </p:spPr>
        <p:txBody>
          <a:bodyPr wrap="square" lIns="0" tIns="0" rIns="0" bIns="0" rtlCol="0" anchor="ctr"/>
          <a:lstStyle/>
          <a:p>
            <a:pPr indent="0" marL="0">
              <a:buNone/>
            </a:pPr>
            <a:r>
              <a:rPr lang="en-US" sz="1300" dirty="0">
                <a:solidFill>
                  <a:srgbClr val="51607A"/>
                </a:solidFill>
                <a:latin typeface="Arial" pitchFamily="34" charset="0"/>
                <a:ea typeface="Arial" pitchFamily="34" charset="-122"/>
                <a:cs typeface="Arial" pitchFamily="34" charset="-120"/>
              </a:rPr>
              <a:t>Add each person with their name and email, your managers and their teams, and two partners who can say yes for you.</a:t>
            </a:r>
            <a:endParaRPr lang="en-US" sz="1300" dirty="0"/>
          </a:p>
        </p:txBody>
      </p:sp>
      <p:sp>
        <p:nvSpPr>
          <p:cNvPr id="29" name="Shape 22"/>
          <p:cNvSpPr/>
          <p:nvPr/>
        </p:nvSpPr>
        <p:spPr>
          <a:xfrm>
            <a:off x="548640" y="4937760"/>
            <a:ext cx="11091672" cy="548640"/>
          </a:xfrm>
          <a:prstGeom prst="roundRect">
            <a:avLst>
              <a:gd name="adj" fmla="val 20000"/>
            </a:avLst>
          </a:prstGeom>
          <a:solidFill>
            <a:srgbClr val="F2F5F9"/>
          </a:solidFill>
          <a:ln/>
        </p:spPr>
        <p:txBody>
          <a:bodyPr/>
          <a:p/>
        </p:txBody>
      </p:sp>
      <p:sp>
        <p:nvSpPr>
          <p:cNvPr id="30" name="Shape 23"/>
          <p:cNvSpPr/>
          <p:nvPr/>
        </p:nvSpPr>
        <p:spPr>
          <a:xfrm>
            <a:off x="685800" y="5001768"/>
            <a:ext cx="420624" cy="420624"/>
          </a:xfrm>
          <a:prstGeom prst="ellipse">
            <a:avLst/>
          </a:prstGeom>
          <a:solidFill>
            <a:srgbClr val="E3EAF5"/>
          </a:solidFill>
          <a:ln/>
        </p:spPr>
        <p:txBody>
          <a:bodyPr/>
          <a:p/>
        </p:txBody>
      </p:sp>
      <p:pic>
        <p:nvPicPr>
          <p:cNvPr id="31" name="Image 5" descr="preencoded.png">    </p:cNvPr>
          <p:cNvPicPr>
            <a:picLocks noChangeAspect="1"/>
          </p:cNvPicPr>
          <p:nvPr/>
        </p:nvPicPr>
        <p:blipFill>
          <a:blip r:embed="rId6"/>
          <a:stretch>
            <a:fillRect/>
          </a:stretch>
        </p:blipFill>
        <p:spPr>
          <a:xfrm>
            <a:off x="790956" y="5106924"/>
            <a:ext cx="210312" cy="210312"/>
          </a:xfrm>
          <a:prstGeom prst="rect">
            <a:avLst/>
          </a:prstGeom>
        </p:spPr>
      </p:pic>
      <p:sp>
        <p:nvSpPr>
          <p:cNvPr id="32" name="Text 24"/>
          <p:cNvSpPr txBox="1"/>
          <p:nvPr/>
        </p:nvSpPr>
        <p:spPr>
          <a:xfrm>
            <a:off x="1325880" y="4937760"/>
            <a:ext cx="3566160" cy="548640"/>
          </a:xfrm>
          <a:prstGeom prst="rect">
            <a:avLst/>
          </a:prstGeom>
          <a:noFill/>
          <a:ln/>
        </p:spPr>
        <p:txBody>
          <a:bodyPr wrap="square" lIns="0" tIns="0" rIns="0" bIns="0" rtlCol="0" anchor="ctr"/>
          <a:lstStyle/>
          <a:p>
            <a:pPr indent="0" marL="0">
              <a:buNone/>
            </a:pPr>
            <a:r>
              <a:rPr lang="en-US" sz="1500" b="1" dirty="0">
                <a:solidFill>
                  <a:srgbClr val="0B1F3A"/>
                </a:solidFill>
                <a:latin typeface="Arial" pitchFamily="34" charset="0"/>
                <a:ea typeface="Arial" pitchFamily="34" charset="-122"/>
                <a:cs typeface="Arial" pitchFamily="34" charset="-120"/>
              </a:rPr>
              <a:t>Link your own drive</a:t>
            </a:r>
            <a:endParaRPr lang="en-US" sz="1500" dirty="0"/>
          </a:p>
        </p:txBody>
      </p:sp>
      <p:sp>
        <p:nvSpPr>
          <p:cNvPr id="33" name="Text 25"/>
          <p:cNvSpPr txBox="1"/>
          <p:nvPr/>
        </p:nvSpPr>
        <p:spPr>
          <a:xfrm>
            <a:off x="5120640" y="4937760"/>
            <a:ext cx="6291072" cy="548640"/>
          </a:xfrm>
          <a:prstGeom prst="rect">
            <a:avLst/>
          </a:prstGeom>
          <a:noFill/>
          <a:ln/>
        </p:spPr>
        <p:txBody>
          <a:bodyPr wrap="square" lIns="0" tIns="0" rIns="0" bIns="0" rtlCol="0" anchor="ctr"/>
          <a:lstStyle/>
          <a:p>
            <a:pPr indent="0" marL="0">
              <a:buNone/>
            </a:pPr>
            <a:r>
              <a:rPr lang="en-US" sz="1300" dirty="0">
                <a:solidFill>
                  <a:srgbClr val="51607A"/>
                </a:solidFill>
                <a:latin typeface="Arial" pitchFamily="34" charset="0"/>
                <a:ea typeface="Arial" pitchFamily="34" charset="-122"/>
                <a:cs typeface="Arial" pitchFamily="34" charset="-120"/>
              </a:rPr>
              <a:t>Link your firm's OneDrive or Dropbox: sign in and tick to agree. Files on a hard disk? Copy them into the drive first. Nothing moves until you say yes.</a:t>
            </a:r>
            <a:endParaRPr lang="en-US" sz="1300" dirty="0"/>
          </a:p>
        </p:txBody>
      </p:sp>
      <p:sp>
        <p:nvSpPr>
          <p:cNvPr id="34" name="Shape 26"/>
          <p:cNvSpPr/>
          <p:nvPr/>
        </p:nvSpPr>
        <p:spPr>
          <a:xfrm>
            <a:off x="548640" y="5577840"/>
            <a:ext cx="11091672" cy="548640"/>
          </a:xfrm>
          <a:prstGeom prst="roundRect">
            <a:avLst>
              <a:gd name="adj" fmla="val 20000"/>
            </a:avLst>
          </a:prstGeom>
          <a:solidFill>
            <a:srgbClr val="FFFFFF"/>
          </a:solidFill>
          <a:ln w="12700">
            <a:solidFill>
              <a:srgbClr val="D9E0EA"/>
            </a:solidFill>
            <a:prstDash val="solid"/>
          </a:ln>
        </p:spPr>
        <p:txBody>
          <a:bodyPr/>
          <a:p/>
        </p:txBody>
      </p:sp>
      <p:sp>
        <p:nvSpPr>
          <p:cNvPr id="35" name="Shape 27"/>
          <p:cNvSpPr/>
          <p:nvPr/>
        </p:nvSpPr>
        <p:spPr>
          <a:xfrm>
            <a:off x="685800" y="5641848"/>
            <a:ext cx="420624" cy="420624"/>
          </a:xfrm>
          <a:prstGeom prst="ellipse">
            <a:avLst/>
          </a:prstGeom>
          <a:solidFill>
            <a:srgbClr val="E3EAF5"/>
          </a:solidFill>
          <a:ln/>
        </p:spPr>
        <p:txBody>
          <a:bodyPr/>
          <a:p/>
        </p:txBody>
      </p:sp>
      <p:pic>
        <p:nvPicPr>
          <p:cNvPr id="36" name="Image 6" descr="preencoded.png">    </p:cNvPr>
          <p:cNvPicPr>
            <a:picLocks noChangeAspect="1"/>
          </p:cNvPicPr>
          <p:nvPr/>
        </p:nvPicPr>
        <p:blipFill>
          <a:blip r:embed="rId10"/>
          <a:stretch>
            <a:fillRect/>
          </a:stretch>
        </p:blipFill>
        <p:spPr>
          <a:xfrm>
            <a:off x="790956" y="5747004"/>
            <a:ext cx="210312" cy="210312"/>
          </a:xfrm>
          <a:prstGeom prst="rect">
            <a:avLst/>
          </a:prstGeom>
        </p:spPr>
      </p:pic>
      <p:sp>
        <p:nvSpPr>
          <p:cNvPr id="37" name="Text 28"/>
          <p:cNvSpPr txBox="1"/>
          <p:nvPr/>
        </p:nvSpPr>
        <p:spPr>
          <a:xfrm>
            <a:off x="1325880" y="5577840"/>
            <a:ext cx="3566160" cy="548640"/>
          </a:xfrm>
          <a:prstGeom prst="rect">
            <a:avLst/>
          </a:prstGeom>
          <a:noFill/>
          <a:ln/>
        </p:spPr>
        <p:txBody>
          <a:bodyPr wrap="square" lIns="0" tIns="0" rIns="0" bIns="0" rtlCol="0" anchor="ctr"/>
          <a:lstStyle/>
          <a:p>
            <a:pPr indent="0" marL="0">
              <a:buNone/>
            </a:pPr>
            <a:r>
              <a:rPr lang="en-US" sz="1500" b="1" dirty="0">
                <a:solidFill>
                  <a:srgbClr val="0B1F3A"/>
                </a:solidFill>
                <a:latin typeface="Arial" pitchFamily="34" charset="0"/>
                <a:ea typeface="Arial" pitchFamily="34" charset="-122"/>
                <a:cs typeface="Arial" pitchFamily="34" charset="-120"/>
              </a:rPr>
              <a:t>Start using it</a:t>
            </a:r>
            <a:endParaRPr lang="en-US" sz="1500" dirty="0"/>
          </a:p>
        </p:txBody>
      </p:sp>
      <p:sp>
        <p:nvSpPr>
          <p:cNvPr id="38" name="Text 29"/>
          <p:cNvSpPr txBox="1"/>
          <p:nvPr/>
        </p:nvSpPr>
        <p:spPr>
          <a:xfrm>
            <a:off x="5120640" y="5577840"/>
            <a:ext cx="6291072" cy="548640"/>
          </a:xfrm>
          <a:prstGeom prst="rect">
            <a:avLst/>
          </a:prstGeom>
          <a:noFill/>
          <a:ln/>
        </p:spPr>
        <p:txBody>
          <a:bodyPr wrap="square" lIns="0" tIns="0" rIns="0" bIns="0" rtlCol="0" anchor="ctr"/>
          <a:lstStyle/>
          <a:p>
            <a:pPr indent="0" marL="0">
              <a:buNone/>
            </a:pPr>
            <a:r>
              <a:rPr lang="en-US" sz="1300" dirty="0">
                <a:solidFill>
                  <a:srgbClr val="51607A"/>
                </a:solidFill>
                <a:latin typeface="Arial" pitchFamily="34" charset="0"/>
                <a:ea typeface="Arial" pitchFamily="34" charset="-122"/>
                <a:cs typeface="Arial" pitchFamily="34" charset="-120"/>
              </a:rPr>
              <a:t>Try it with sample data first. Real work starts after the safety checks pass. Each step has a guide; help is one message away, but you can finish on your own.</a:t>
            </a:r>
            <a:endParaRPr lang="en-US" sz="1300" dirty="0"/>
          </a:p>
        </p:txBody>
      </p:sp>
      <p:sp>
        <p:nvSpPr>
          <p:cNvPr id="39" name="Text 30"/>
          <p:cNvSpPr txBox="1"/>
          <p:nvPr/>
        </p:nvSpPr>
        <p:spPr>
          <a:xfrm>
            <a:off x="548640" y="6355080"/>
            <a:ext cx="9144000" cy="274320"/>
          </a:xfrm>
          <a:prstGeom prst="rect">
            <a:avLst/>
          </a:prstGeom>
          <a:noFill/>
          <a:ln/>
        </p:spPr>
        <p:txBody>
          <a:bodyPr wrap="square" lIns="0" tIns="0" rIns="0" bIns="0" rtlCol="0" anchor="t"/>
          <a:lstStyle/>
          <a:p>
            <a:pPr indent="0" marL="0">
              <a:buNone/>
            </a:pPr>
            <a:r>
              <a:rPr lang="en-US" sz="1000" dirty="0">
                <a:solidFill>
                  <a:srgbClr val="51607A"/>
                </a:solidFill>
                <a:latin typeface="Arial" pitchFamily="34" charset="0"/>
                <a:ea typeface="Arial" pitchFamily="34" charset="-122"/>
                <a:cs typeface="Arial" pitchFamily="34" charset="-120"/>
              </a:rPr>
              <a:t>InboxCA · a product by Orelu · Prepared for CA Paresh</a:t>
            </a:r>
            <a:endParaRPr lang="en-US" sz="1000" dirty="0"/>
          </a:p>
        </p:txBody>
      </p:sp>
      <p:sp>
        <p:nvSpPr>
          <p:cNvPr id="40" name="Text 31"/>
          <p:cNvSpPr txBox="1"/>
          <p:nvPr/>
        </p:nvSpPr>
        <p:spPr>
          <a:xfrm>
            <a:off x="10908792" y="6355080"/>
            <a:ext cx="731520" cy="274320"/>
          </a:xfrm>
          <a:prstGeom prst="rect">
            <a:avLst/>
          </a:prstGeom>
          <a:noFill/>
          <a:ln/>
        </p:spPr>
        <p:txBody>
          <a:bodyPr wrap="square" lIns="0" tIns="0" rIns="0" bIns="0" rtlCol="0" anchor="t"/>
          <a:lstStyle/>
          <a:p>
            <a:pPr algn="r" indent="0" marL="0">
              <a:buNone/>
            </a:pPr>
            <a:r>
              <a:rPr lang="en-US" sz="1000" dirty="0">
                <a:solidFill>
                  <a:srgbClr val="51607A"/>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3" name="Text 1"/>
          <p:cNvSpPr txBox="1"/>
          <p:nvPr/>
        </p:nvSpPr>
        <p:spPr>
          <a:xfrm>
            <a:off x="548640" y="2194560"/>
            <a:ext cx="11091672" cy="9144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Less chasing. More doing.</a:t>
            </a:r>
            <a:endParaRPr lang="en-US" sz="4800" dirty="0"/>
          </a:p>
        </p:txBody>
      </p:sp>
      <p:sp>
        <p:nvSpPr>
          <p:cNvPr id="5" name="Text 3"/>
          <p:cNvSpPr txBox="1"/>
          <p:nvPr/>
        </p:nvSpPr>
        <p:spPr>
          <a:xfrm>
            <a:off x="548640" y="3383280"/>
            <a:ext cx="548640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Utsav Doshi, Founder · CEO &amp; CTO</a:t>
            </a:r>
            <a:endParaRPr lang="en-US" sz="1600" dirty="0"/>
          </a:p>
        </p:txBody>
      </p:sp>
      <p:sp>
        <p:nvSpPr>
          <p:cNvPr id="6" name="Text 4"/>
          <p:cNvSpPr txBox="1"/>
          <p:nvPr/>
        </p:nvSpPr>
        <p:spPr>
          <a:xfrm>
            <a:off x="548640" y="3749040"/>
            <a:ext cx="548640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Ria Chheda, Co-founder · CMO</a:t>
            </a:r>
            <a:endParaRPr lang="en-US" sz="1600" dirty="0"/>
          </a:p>
        </p:txBody>
      </p:sp>
      <p:sp>
        <p:nvSpPr>
          <p:cNvPr id="7" name="Text 5"/>
          <p:cNvSpPr txBox="1"/>
          <p:nvPr/>
        </p:nvSpPr>
        <p:spPr>
          <a:xfrm>
            <a:off x="548640" y="4297680"/>
            <a:ext cx="7315200" cy="36576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InboxCA, a product by Orelu  ·  orelu.team@gmail.com</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200" b="1" spc="300" kern="0" dirty="0">
                <a:solidFill>
                  <a:srgbClr val="1A4BB0"/>
                </a:solidFill>
                <a:latin typeface="Arial" pitchFamily="34" charset="0"/>
                <a:ea typeface="Arial" pitchFamily="34" charset="-122"/>
                <a:cs typeface="Arial" pitchFamily="34" charset="-120"/>
              </a:rPr>
              <a:t>PLANS · ESTIMATES · BEFORE GST</a:t>
            </a:r>
            <a:endParaRPr lang="en-US" sz="1200" dirty="0"/>
          </a:p>
        </p:txBody>
      </p:sp>
      <p:sp>
        <p:nvSpPr>
          <p:cNvPr id="3" name="Text 1"/>
          <p:cNvSpPr txBox="1"/>
          <p:nvPr/>
        </p:nvSpPr>
        <p:spPr>
          <a:xfrm>
            <a:off x="548640" y="777240"/>
            <a:ext cx="11091672" cy="685800"/>
          </a:xfrm>
          <a:prstGeom prst="rect">
            <a:avLst/>
          </a:prstGeom>
          <a:noFill/>
          <a:ln/>
        </p:spPr>
        <p:txBody>
          <a:bodyPr wrap="square" lIns="0" tIns="0" rIns="0" bIns="0" rtlCol="0" anchor="t"/>
          <a:lstStyle/>
          <a:p>
            <a:pPr indent="0" marL="0">
              <a:buNone/>
            </a:pPr>
            <a:r>
              <a:rPr lang="en-US" sz="3200" b="1" dirty="0">
                <a:solidFill>
                  <a:srgbClr val="0B1F3A"/>
                </a:solidFill>
                <a:latin typeface="Arial" pitchFamily="34" charset="0"/>
                <a:ea typeface="Arial" pitchFamily="34" charset="-122"/>
                <a:cs typeface="Arial" pitchFamily="34" charset="-120"/>
              </a:rPr>
              <a:t>Plans side by side, and your estimate</a:t>
            </a:r>
            <a:endParaRPr lang="en-US" sz="3200" dirty="0"/>
          </a:p>
        </p:txBody>
      </p:sp>
      <p:sp>
        <p:nvSpPr>
          <p:cNvPr id="28" name="Text 21"/>
          <p:cNvSpPr txBox="1"/>
          <p:nvPr/>
        </p:nvSpPr>
        <p:spPr>
          <a:xfrm>
            <a:off x="548640" y="6355080"/>
            <a:ext cx="9144000" cy="274320"/>
          </a:xfrm>
          <a:prstGeom prst="rect">
            <a:avLst/>
          </a:prstGeom>
          <a:noFill/>
          <a:ln/>
        </p:spPr>
        <p:txBody>
          <a:bodyPr wrap="square" lIns="0" tIns="0" rIns="0" bIns="0" rtlCol="0" anchor="t"/>
          <a:lstStyle/>
          <a:p>
            <a:pPr indent="0" marL="0">
              <a:buNone/>
            </a:pPr>
            <a:r>
              <a:rPr lang="en-US" sz="1000" dirty="0">
                <a:solidFill>
                  <a:srgbClr val="51607A"/>
                </a:solidFill>
                <a:latin typeface="Arial" pitchFamily="34" charset="0"/>
                <a:ea typeface="Arial" pitchFamily="34" charset="-122"/>
                <a:cs typeface="Arial" pitchFamily="34" charset="-120"/>
              </a:rPr>
              <a:t>InboxCA · a product by Orelu · Prepared for CA Paresh</a:t>
            </a:r>
            <a:endParaRPr lang="en-US" sz="1000" dirty="0"/>
          </a:p>
        </p:txBody>
      </p:sp>
      <p:sp>
        <p:nvSpPr>
          <p:cNvPr id="29" name="Text 22"/>
          <p:cNvSpPr txBox="1"/>
          <p:nvPr/>
        </p:nvSpPr>
        <p:spPr>
          <a:xfrm>
            <a:off x="10908792" y="6355080"/>
            <a:ext cx="731520" cy="274320"/>
          </a:xfrm>
          <a:prstGeom prst="rect">
            <a:avLst/>
          </a:prstGeom>
          <a:noFill/>
          <a:ln/>
        </p:spPr>
        <p:txBody>
          <a:bodyPr wrap="square" lIns="0" tIns="0" rIns="0" bIns="0" rtlCol="0" anchor="t"/>
          <a:lstStyle/>
          <a:p>
            <a:pPr algn="r" indent="0" marL="0">
              <a:buNone/>
            </a:pPr>
            <a:r>
              <a:rPr lang="en-US" sz="1000" dirty="0">
                <a:solidFill>
                  <a:srgbClr val="51607A"/>
                </a:solidFill>
                <a:latin typeface="Arial" pitchFamily="34" charset="0"/>
                <a:ea typeface="Arial" pitchFamily="34" charset="-122"/>
                <a:cs typeface="Arial" pitchFamily="34" charset="-120"/>
              </a:rPr>
              <a:t>8</a:t>
            </a:r>
            <a:endParaRPr lang="en-US" sz="1000" dirty="0"/>
          </a:p>
        </p:txBody>
      </p:sp>
      <p:sp>
        <p:nvSpPr>
          <p:cNvPr id="30" name="Plan note"/>
          <p:cNvSpPr txBox="1"/>
          <p:nvPr/>
        </p:nvSpPr>
        <p:spPr>
          <a:xfrm>
            <a:off x="548640" y="1371600"/>
            <a:ext cx="11091672" cy="274320"/>
          </a:xfrm>
          <a:prstGeom prst="rect">
            <a:avLst/>
          </a:prstGeom>
          <a:noFill/>
          <a:ln/>
        </p:spPr>
        <p:txBody>
          <a:bodyPr wrap="square" lIns="0" tIns="0" rIns="0" bIns="0" rtlCol="0" anchor="t"/>
          <a:lstStyle/>
          <a:p>
            <a:pPr indent="0" marL="0">
              <a:buNone/>
            </a:pPr>
            <a:r>
              <a:rPr lang="en-US" sz="1300" dirty="0">
                <a:solidFill>
                  <a:srgbClr val="51607A"/>
                </a:solidFill>
                <a:latin typeface="Arial" pitchFamily="34" charset="0"/>
                <a:ea typeface="Arial" pitchFamily="34" charset="-122"/>
                <a:cs typeface="Arial" pitchFamily="34" charset="-120"/>
              </a:rPr>
              <a:t>Every plan: unlimited clients and every feature. Pay yearly: 1 month free. 14-day money-back on your first plan payment.</a:t>
            </a:r>
          </a:p>
        </p:txBody>
      </p:sp>
      <p:graphicFrame>
        <p:nvGraphicFramePr>
          <p:cNvPr id="40" name="Plans table"/>
          <p:cNvGraphicFramePr>
            <a:graphicFrameLocks noGrp="1"/>
          </p:cNvGraphicFramePr>
          <p:nvPr/>
        </p:nvGraphicFramePr>
        <p:xfrm>
          <a:off x="548640" y="1783080"/>
          <a:ext cx="11091672" cy="2926080"/>
        </p:xfrm>
        <a:graphic>
          <a:graphicData uri="http://schemas.openxmlformats.org/drawingml/2006/table">
            <a:tbl>
              <a:tblPr firstRow="1"/>
              <a:tblGrid>
                <a:gridCol w="2743200"/>
                <a:gridCol w="1600200"/>
                <a:gridCol w="1600200"/>
                <a:gridCol w="1600200"/>
                <a:gridCol w="1600200"/>
                <a:gridCol w="1947672"/>
              </a:tblGrid>
              <a:tr h="365760">
                <a:tc>
                  <a:txBody>
                    <a:bodyPr/>
                    <a:lstStyle/>
                    <a:p>
                      <a:pPr indent="0" marL="0" algn="l">
                        <a:buNone/>
                      </a:pPr>
                      <a:r>
                        <a:rPr lang="en-US" sz="1400" b="1" dirty="0">
                          <a:solidFill>
                            <a:srgbClr val="FFFFFF"/>
                          </a:solidFill>
                          <a:latin typeface="Arial" pitchFamily="34" charset="0"/>
                          <a:ea typeface="Arial" pitchFamily="34" charset="-122"/>
                          <a:cs typeface="Arial" pitchFamily="34" charset="-120"/>
                        </a:rPr>
                        <a:t/>
                      </a:r>
                    </a:p>
                  </a:txBody>
                  <a:tcPr marL="137160" marR="91440" marT="45720" marB="45720" anchor="ctr">
                    <a:lnL w="9525">
                      <a:noFill/>
                    </a:lnL>
                    <a:lnR w="9525">
                      <a:noFill/>
                    </a:lnR>
                    <a:lnT w="9525">
                      <a:noFill/>
                    </a:lnT>
                    <a:lnB w="9525">
                      <a:noFill/>
                    </a:lnB>
                    <a:solidFill>
                      <a:srgbClr val="0B1F3A"/>
                    </a:solidFill>
                  </a:tcPr>
                </a:tc>
                <a:tc>
                  <a:txBody>
                    <a:bodyPr/>
                    <a:lstStyle/>
                    <a:p>
                      <a:pPr indent="0" marL="0" algn="ctr">
                        <a:buNone/>
                      </a:pPr>
                      <a:r>
                        <a:rPr lang="en-US" sz="1400" b="1" dirty="0">
                          <a:solidFill>
                            <a:srgbClr val="FFFFFF"/>
                          </a:solidFill>
                          <a:latin typeface="Arial" pitchFamily="34" charset="0"/>
                          <a:ea typeface="Arial" pitchFamily="34" charset="-122"/>
                          <a:cs typeface="Arial" pitchFamily="34" charset="-120"/>
                        </a:rPr>
                        <a:t>Solo</a:t>
                      </a:r>
                    </a:p>
                  </a:txBody>
                  <a:tcPr marL="137160" marR="91440" marT="45720" marB="45720" anchor="ctr">
                    <a:lnL w="9525">
                      <a:noFill/>
                    </a:lnL>
                    <a:lnR w="9525">
                      <a:noFill/>
                    </a:lnR>
                    <a:lnT w="9525">
                      <a:noFill/>
                    </a:lnT>
                    <a:lnB w="9525">
                      <a:noFill/>
                    </a:lnB>
                    <a:solidFill>
                      <a:srgbClr val="0B1F3A"/>
                    </a:solidFill>
                  </a:tcPr>
                </a:tc>
                <a:tc>
                  <a:txBody>
                    <a:bodyPr/>
                    <a:lstStyle/>
                    <a:p>
                      <a:pPr indent="0" marL="0" algn="ctr">
                        <a:buNone/>
                      </a:pPr>
                      <a:r>
                        <a:rPr lang="en-US" sz="1400" b="1" dirty="0">
                          <a:solidFill>
                            <a:srgbClr val="FFFFFF"/>
                          </a:solidFill>
                          <a:latin typeface="Arial" pitchFamily="34" charset="0"/>
                          <a:ea typeface="Arial" pitchFamily="34" charset="-122"/>
                          <a:cs typeface="Arial" pitchFamily="34" charset="-120"/>
                        </a:rPr>
                        <a:t>Growth</a:t>
                      </a:r>
                    </a:p>
                  </a:txBody>
                  <a:tcPr marL="137160" marR="91440" marT="45720" marB="45720" anchor="ctr">
                    <a:lnL w="9525">
                      <a:noFill/>
                    </a:lnL>
                    <a:lnR w="9525">
                      <a:noFill/>
                    </a:lnR>
                    <a:lnT w="9525">
                      <a:noFill/>
                    </a:lnT>
                    <a:lnB w="9525">
                      <a:noFill/>
                    </a:lnB>
                    <a:solidFill>
                      <a:srgbClr val="0B1F3A"/>
                    </a:solidFill>
                  </a:tcPr>
                </a:tc>
                <a:tc>
                  <a:txBody>
                    <a:bodyPr/>
                    <a:lstStyle/>
                    <a:p>
                      <a:pPr indent="0" marL="0" algn="ctr">
                        <a:buNone/>
                      </a:pPr>
                      <a:r>
                        <a:rPr lang="en-US" sz="1400" b="1" dirty="0">
                          <a:solidFill>
                            <a:srgbClr val="FFFFFF"/>
                          </a:solidFill>
                          <a:latin typeface="Arial" pitchFamily="34" charset="0"/>
                          <a:ea typeface="Arial" pitchFamily="34" charset="-122"/>
                          <a:cs typeface="Arial" pitchFamily="34" charset="-120"/>
                        </a:rPr>
                        <a:t>Scale</a:t>
                      </a:r>
                    </a:p>
                  </a:txBody>
                  <a:tcPr marL="137160" marR="91440" marT="45720" marB="45720" anchor="ctr">
                    <a:lnL w="9525">
                      <a:noFill/>
                    </a:lnL>
                    <a:lnR w="9525">
                      <a:noFill/>
                    </a:lnR>
                    <a:lnT w="9525">
                      <a:noFill/>
                    </a:lnT>
                    <a:lnB w="9525">
                      <a:noFill/>
                    </a:lnB>
                    <a:solidFill>
                      <a:srgbClr val="0B1F3A"/>
                    </a:solidFill>
                  </a:tcPr>
                </a:tc>
                <a:tc>
                  <a:txBody>
                    <a:bodyPr/>
                    <a:lstStyle/>
                    <a:p>
                      <a:pPr indent="0" marL="0" algn="ctr">
                        <a:buNone/>
                      </a:pPr>
                      <a:r>
                        <a:rPr lang="en-US" sz="1400" b="1" dirty="0">
                          <a:solidFill>
                            <a:srgbClr val="FFFFFF"/>
                          </a:solidFill>
                          <a:latin typeface="Arial" pitchFamily="34" charset="0"/>
                          <a:ea typeface="Arial" pitchFamily="34" charset="-122"/>
                          <a:cs typeface="Arial" pitchFamily="34" charset="-120"/>
                        </a:rPr>
                        <a:t>Enterprise</a:t>
                      </a:r>
                    </a:p>
                  </a:txBody>
                  <a:tcPr marL="137160" marR="91440" marT="45720" marB="45720" anchor="ctr">
                    <a:lnL w="9525">
                      <a:noFill/>
                    </a:lnL>
                    <a:lnR w="9525">
                      <a:noFill/>
                    </a:lnR>
                    <a:lnT w="9525">
                      <a:noFill/>
                    </a:lnT>
                    <a:lnB w="9525">
                      <a:noFill/>
                    </a:lnB>
                    <a:solidFill>
                      <a:srgbClr val="0B1F3A"/>
                    </a:solidFill>
                  </a:tcPr>
                </a:tc>
                <a:tc>
                  <a:txBody>
                    <a:bodyPr/>
                    <a:lstStyle/>
                    <a:p>
                      <a:pPr indent="0" marL="0" algn="ctr">
                        <a:buNone/>
                      </a:pPr>
                      <a:r>
                        <a:rPr lang="en-US" sz="1400" b="1" dirty="0">
                          <a:solidFill>
                            <a:srgbClr val="FFFFFF"/>
                          </a:solidFill>
                          <a:latin typeface="Arial" pitchFamily="34" charset="0"/>
                          <a:ea typeface="Arial" pitchFamily="34" charset="-122"/>
                          <a:cs typeface="Arial" pitchFamily="34" charset="-120"/>
                        </a:rPr>
                        <a:t>Custom (yours)</a:t>
                      </a:r>
                    </a:p>
                  </a:txBody>
                  <a:tcPr marL="137160" marR="91440" marT="45720" marB="45720" anchor="ctr">
                    <a:lnL w="9525">
                      <a:noFill/>
                    </a:lnL>
                    <a:lnR w="9525">
                      <a:noFill/>
                    </a:lnR>
                    <a:lnT w="9525">
                      <a:noFill/>
                    </a:lnT>
                    <a:lnB w="9525">
                      <a:noFill/>
                    </a:lnB>
                    <a:solidFill>
                      <a:srgbClr val="1A4BB0"/>
                    </a:solidFill>
                  </a:tcPr>
                </a:tc>
              </a:tr>
              <a:tr h="365760">
                <a:tc>
                  <a:txBody>
                    <a:bodyPr/>
                    <a:lstStyle/>
                    <a:p>
                      <a:pPr indent="0" marL="0" algn="l">
                        <a:buNone/>
                      </a:pPr>
                      <a:r>
                        <a:rPr lang="en-US" sz="1200" dirty="0" b="1">
                          <a:solidFill>
                            <a:srgbClr val="51607A"/>
                          </a:solidFill>
                          <a:latin typeface="Arial" pitchFamily="34" charset="0"/>
                          <a:ea typeface="Arial" pitchFamily="34" charset="-122"/>
                          <a:cs typeface="Arial" pitchFamily="34" charset="-120"/>
                        </a:rPr>
                        <a:t>Suits about</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b="1">
                          <a:solidFill>
                            <a:srgbClr val="0B1F3A"/>
                          </a:solidFill>
                          <a:latin typeface="Arial" pitchFamily="34" charset="0"/>
                          <a:ea typeface="Arial" pitchFamily="34" charset="-122"/>
                          <a:cs typeface="Arial" pitchFamily="34" charset="-120"/>
                        </a:rPr>
                        <a:t>70 clients</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b="1">
                          <a:solidFill>
                            <a:srgbClr val="0B1F3A"/>
                          </a:solidFill>
                          <a:latin typeface="Arial" pitchFamily="34" charset="0"/>
                          <a:ea typeface="Arial" pitchFamily="34" charset="-122"/>
                          <a:cs typeface="Arial" pitchFamily="34" charset="-120"/>
                        </a:rPr>
                        <a:t>170 clients</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b="1">
                          <a:solidFill>
                            <a:srgbClr val="0B1F3A"/>
                          </a:solidFill>
                          <a:latin typeface="Arial" pitchFamily="34" charset="0"/>
                          <a:ea typeface="Arial" pitchFamily="34" charset="-122"/>
                          <a:cs typeface="Arial" pitchFamily="34" charset="-120"/>
                        </a:rPr>
                        <a:t>340 clients</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b="1">
                          <a:solidFill>
                            <a:srgbClr val="0B1F3A"/>
                          </a:solidFill>
                          <a:latin typeface="Arial" pitchFamily="34" charset="0"/>
                          <a:ea typeface="Arial" pitchFamily="34" charset="-122"/>
                          <a:cs typeface="Arial" pitchFamily="34" charset="-120"/>
                        </a:rPr>
                        <a:t>700 clients</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b="1" dirty="0">
                          <a:solidFill>
                            <a:srgbClr val="0B1F3A"/>
                          </a:solidFill>
                          <a:latin typeface="Arial" pitchFamily="34" charset="0"/>
                          <a:ea typeface="Arial" pitchFamily="34" charset="-122"/>
                          <a:cs typeface="Arial" pitchFamily="34" charset="-120"/>
                        </a:rPr>
                        <a:t>800–1,000 clients</a:t>
                      </a:r>
                    </a:p>
                  </a:txBody>
                  <a:tcPr marL="137160" marR="91440" marT="45720" marB="45720" anchor="ctr">
                    <a:lnL w="9525">
                      <a:noFill/>
                    </a:lnL>
                    <a:lnR w="9525">
                      <a:noFill/>
                    </a:lnR>
                    <a:lnT w="9525">
                      <a:noFill/>
                    </a:lnT>
                    <a:lnB w="9525">
                      <a:solidFill>
                        <a:srgbClr val="D9E0EA"/>
                      </a:solidFill>
                    </a:lnB>
                    <a:solidFill>
                      <a:srgbClr val="E6ECF5"/>
                    </a:solidFill>
                  </a:tcPr>
                </a:tc>
              </a:tr>
              <a:tr h="365760">
                <a:tc>
                  <a:txBody>
                    <a:bodyPr/>
                    <a:lstStyle/>
                    <a:p>
                      <a:pPr indent="0" marL="0" algn="l">
                        <a:buNone/>
                      </a:pPr>
                      <a:r>
                        <a:rPr lang="en-US" sz="1200" dirty="0">
                          <a:solidFill>
                            <a:srgbClr val="51607A"/>
                          </a:solidFill>
                          <a:latin typeface="Arial" pitchFamily="34" charset="0"/>
                          <a:ea typeface="Arial" pitchFamily="34" charset="-122"/>
                          <a:cs typeface="Arial" pitchFamily="34" charset="-120"/>
                        </a:rPr>
                        <a:t>Price a month</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600" b="1" dirty="0">
                          <a:solidFill>
                            <a:srgbClr val="0B1F3A"/>
                          </a:solidFill>
                          <a:latin typeface="Arial" pitchFamily="34" charset="0"/>
                          <a:ea typeface="Arial" pitchFamily="34" charset="-122"/>
                          <a:cs typeface="Arial" pitchFamily="34" charset="-120"/>
                        </a:rPr>
                        <a:t>₹1,499</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600" b="1" dirty="0">
                          <a:solidFill>
                            <a:srgbClr val="0B1F3A"/>
                          </a:solidFill>
                          <a:latin typeface="Arial" pitchFamily="34" charset="0"/>
                          <a:ea typeface="Arial" pitchFamily="34" charset="-122"/>
                          <a:cs typeface="Arial" pitchFamily="34" charset="-120"/>
                        </a:rPr>
                        <a:t>₹3,799</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600" b="1" dirty="0">
                          <a:solidFill>
                            <a:srgbClr val="0B1F3A"/>
                          </a:solidFill>
                          <a:latin typeface="Arial" pitchFamily="34" charset="0"/>
                          <a:ea typeface="Arial" pitchFamily="34" charset="-122"/>
                          <a:cs typeface="Arial" pitchFamily="34" charset="-120"/>
                        </a:rPr>
                        <a:t>₹7,649</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600" b="1" dirty="0">
                          <a:solidFill>
                            <a:srgbClr val="0B1F3A"/>
                          </a:solidFill>
                          <a:latin typeface="Arial" pitchFamily="34" charset="0"/>
                          <a:ea typeface="Arial" pitchFamily="34" charset="-122"/>
                          <a:cs typeface="Arial" pitchFamily="34" charset="-120"/>
                        </a:rPr>
                        <a:t>₹15,299</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600" b="1" dirty="0">
                          <a:solidFill>
                            <a:srgbClr val="0B1F3A"/>
                          </a:solidFill>
                          <a:latin typeface="Arial" pitchFamily="34" charset="0"/>
                          <a:ea typeface="Arial" pitchFamily="34" charset="-122"/>
                          <a:cs typeface="Arial" pitchFamily="34" charset="-120"/>
                        </a:rPr>
                        <a:t>about ₹19,499</a:t>
                      </a:r>
                    </a:p>
                  </a:txBody>
                  <a:tcPr marL="137160" marR="91440" marT="45720" marB="45720" anchor="ctr">
                    <a:lnL w="9525">
                      <a:noFill/>
                    </a:lnL>
                    <a:lnR w="9525">
                      <a:noFill/>
                    </a:lnR>
                    <a:lnT w="9525">
                      <a:noFill/>
                    </a:lnT>
                    <a:lnB w="9525">
                      <a:solidFill>
                        <a:srgbClr val="D9E0EA"/>
                      </a:solidFill>
                    </a:lnB>
                    <a:solidFill>
                      <a:srgbClr val="E6ECF5"/>
                    </a:solidFill>
                  </a:tcPr>
                </a:tc>
              </a:tr>
              <a:tr h="365760">
                <a:tc>
                  <a:txBody>
                    <a:bodyPr/>
                    <a:lstStyle/>
                    <a:p>
                      <a:pPr indent="0" marL="0" algn="l">
                        <a:buNone/>
                      </a:pPr>
                      <a:r>
                        <a:rPr lang="en-US" sz="1200" dirty="0">
                          <a:solidFill>
                            <a:srgbClr val="51607A"/>
                          </a:solidFill>
                          <a:latin typeface="Arial" pitchFamily="34" charset="0"/>
                          <a:ea typeface="Arial" pitchFamily="34" charset="-122"/>
                          <a:cs typeface="Arial" pitchFamily="34" charset="-120"/>
                        </a:rPr>
                        <a:t>Price a year (1 month free)</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₹16,499</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₹41,799</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₹84,149</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₹1,68,299</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b="1" dirty="0">
                          <a:solidFill>
                            <a:srgbClr val="0B1F3A"/>
                          </a:solidFill>
                          <a:latin typeface="Arial" pitchFamily="34" charset="0"/>
                          <a:ea typeface="Arial" pitchFamily="34" charset="-122"/>
                          <a:cs typeface="Arial" pitchFamily="34" charset="-120"/>
                        </a:rPr>
                        <a:t>₹2,14,499</a:t>
                      </a:r>
                    </a:p>
                  </a:txBody>
                  <a:tcPr marL="137160" marR="91440" marT="45720" marB="45720" anchor="ctr">
                    <a:lnL w="9525">
                      <a:noFill/>
                    </a:lnL>
                    <a:lnR w="9525">
                      <a:noFill/>
                    </a:lnR>
                    <a:lnT w="9525">
                      <a:noFill/>
                    </a:lnT>
                    <a:lnB w="9525">
                      <a:solidFill>
                        <a:srgbClr val="D9E0EA"/>
                      </a:solidFill>
                    </a:lnB>
                    <a:solidFill>
                      <a:srgbClr val="E6ECF5"/>
                    </a:solidFill>
                  </a:tcPr>
                </a:tc>
              </a:tr>
              <a:tr h="365760">
                <a:tc>
                  <a:txBody>
                    <a:bodyPr/>
                    <a:lstStyle/>
                    <a:p>
                      <a:pPr indent="0" marL="0" algn="l">
                        <a:buNone/>
                      </a:pPr>
                      <a:r>
                        <a:rPr lang="en-US" sz="1200" dirty="0">
                          <a:solidFill>
                            <a:srgbClr val="51607A"/>
                          </a:solidFill>
                          <a:latin typeface="Arial" pitchFamily="34" charset="0"/>
                          <a:ea typeface="Arial" pitchFamily="34" charset="-122"/>
                          <a:cs typeface="Arial" pitchFamily="34" charset="-120"/>
                        </a:rPr>
                        <a:t>Returns you file in a year</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800</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2,000</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4,000</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8,000</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b="1" dirty="0">
                          <a:solidFill>
                            <a:srgbClr val="0B1F3A"/>
                          </a:solidFill>
                          <a:latin typeface="Arial" pitchFamily="34" charset="0"/>
                          <a:ea typeface="Arial" pitchFamily="34" charset="-122"/>
                          <a:cs typeface="Arial" pitchFamily="34" charset="-120"/>
                        </a:rPr>
                        <a:t>about 10,300</a:t>
                      </a:r>
                    </a:p>
                  </a:txBody>
                  <a:tcPr marL="137160" marR="91440" marT="45720" marB="45720" anchor="ctr">
                    <a:lnL w="9525">
                      <a:noFill/>
                    </a:lnL>
                    <a:lnR w="9525">
                      <a:noFill/>
                    </a:lnR>
                    <a:lnT w="9525">
                      <a:noFill/>
                    </a:lnT>
                    <a:lnB w="9525">
                      <a:solidFill>
                        <a:srgbClr val="D9E0EA"/>
                      </a:solidFill>
                    </a:lnB>
                    <a:solidFill>
                      <a:srgbClr val="E6ECF5"/>
                    </a:solidFill>
                  </a:tcPr>
                </a:tc>
              </a:tr>
              <a:tr h="365760">
                <a:tc>
                  <a:txBody>
                    <a:bodyPr/>
                    <a:lstStyle/>
                    <a:p>
                      <a:pPr indent="0" marL="0" algn="l">
                        <a:buNone/>
                      </a:pPr>
                      <a:r>
                        <a:rPr lang="en-US" sz="1200" dirty="0">
                          <a:solidFill>
                            <a:srgbClr val="51607A"/>
                          </a:solidFill>
                          <a:latin typeface="Arial" pitchFamily="34" charset="0"/>
                          <a:ea typeface="Arial" pitchFamily="34" charset="-122"/>
                          <a:cs typeface="Arial" pitchFamily="34" charset="-120"/>
                        </a:rPr>
                        <a:t>InboxCA storage in a year</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4 GB</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10 GB</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20 GB</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40 GB</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b="1" dirty="0">
                          <a:solidFill>
                            <a:srgbClr val="0B1F3A"/>
                          </a:solidFill>
                          <a:latin typeface="Arial" pitchFamily="34" charset="0"/>
                          <a:ea typeface="Arial" pitchFamily="34" charset="-122"/>
                          <a:cs typeface="Arial" pitchFamily="34" charset="-120"/>
                        </a:rPr>
                        <a:t>about 54 GB</a:t>
                      </a:r>
                    </a:p>
                  </a:txBody>
                  <a:tcPr marL="137160" marR="91440" marT="45720" marB="45720" anchor="ctr">
                    <a:lnL w="9525">
                      <a:noFill/>
                    </a:lnL>
                    <a:lnR w="9525">
                      <a:noFill/>
                    </a:lnR>
                    <a:lnT w="9525">
                      <a:noFill/>
                    </a:lnT>
                    <a:lnB w="9525">
                      <a:solidFill>
                        <a:srgbClr val="D9E0EA"/>
                      </a:solidFill>
                    </a:lnB>
                    <a:solidFill>
                      <a:srgbClr val="E6ECF5"/>
                    </a:solidFill>
                  </a:tcPr>
                </a:tc>
              </a:tr>
              <a:tr h="365760">
                <a:tc>
                  <a:txBody>
                    <a:bodyPr/>
                    <a:lstStyle/>
                    <a:p>
                      <a:pPr indent="0" marL="0" algn="l">
                        <a:buNone/>
                      </a:pPr>
                      <a:r>
                        <a:rPr lang="en-US" sz="1200" dirty="0">
                          <a:solidFill>
                            <a:srgbClr val="51607A"/>
                          </a:solidFill>
                          <a:latin typeface="Arial" pitchFamily="34" charset="0"/>
                          <a:ea typeface="Arial" pitchFamily="34" charset="-122"/>
                          <a:cs typeface="Arial" pitchFamily="34" charset="-120"/>
                        </a:rPr>
                        <a:t>AI allowance a month (credits)</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4,000</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10,000</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24,000</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60,000</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b="1" dirty="0">
                          <a:solidFill>
                            <a:srgbClr val="0B1F3A"/>
                          </a:solidFill>
                          <a:latin typeface="Arial" pitchFamily="34" charset="0"/>
                          <a:ea typeface="Arial" pitchFamily="34" charset="-122"/>
                          <a:cs typeface="Arial" pitchFamily="34" charset="-120"/>
                        </a:rPr>
                        <a:t>81,000</a:t>
                      </a:r>
                    </a:p>
                  </a:txBody>
                  <a:tcPr marL="137160" marR="91440" marT="45720" marB="45720" anchor="ctr">
                    <a:lnL w="9525">
                      <a:noFill/>
                    </a:lnL>
                    <a:lnR w="9525">
                      <a:noFill/>
                    </a:lnR>
                    <a:lnT w="9525">
                      <a:noFill/>
                    </a:lnT>
                    <a:lnB w="9525">
                      <a:solidFill>
                        <a:srgbClr val="D9E0EA"/>
                      </a:solidFill>
                    </a:lnB>
                    <a:solidFill>
                      <a:srgbClr val="E6ECF5"/>
                    </a:solidFill>
                  </a:tcPr>
                </a:tc>
              </a:tr>
              <a:tr h="365760">
                <a:tc>
                  <a:txBody>
                    <a:bodyPr/>
                    <a:lstStyle/>
                    <a:p>
                      <a:pPr indent="0" marL="0" algn="l">
                        <a:buNone/>
                      </a:pPr>
                      <a:r>
                        <a:rPr lang="en-US" sz="1200" dirty="0">
                          <a:solidFill>
                            <a:srgbClr val="51607A"/>
                          </a:solidFill>
                          <a:latin typeface="Arial" pitchFamily="34" charset="0"/>
                          <a:ea typeface="Arial" pitchFamily="34" charset="-122"/>
                          <a:cs typeface="Arial" pitchFamily="34" charset="-120"/>
                        </a:rPr>
                        <a:t>Your whole team, you included</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Just you</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up to 10</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up to 20</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dirty="0">
                          <a:solidFill>
                            <a:srgbClr val="0B1F3A"/>
                          </a:solidFill>
                          <a:latin typeface="Arial" pitchFamily="34" charset="0"/>
                          <a:ea typeface="Arial" pitchFamily="34" charset="-122"/>
                          <a:cs typeface="Arial" pitchFamily="34" charset="-120"/>
                        </a:rPr>
                        <a:t>up to 40</a:t>
                      </a:r>
                    </a:p>
                  </a:txBody>
                  <a:tcPr marL="137160" marR="91440" marT="45720" marB="45720" anchor="ctr">
                    <a:lnL w="9525">
                      <a:noFill/>
                    </a:lnL>
                    <a:lnR w="9525">
                      <a:noFill/>
                    </a:lnR>
                    <a:lnT w="9525">
                      <a:noFill/>
                    </a:lnT>
                    <a:lnB w="9525">
                      <a:solidFill>
                        <a:srgbClr val="D9E0EA"/>
                      </a:solidFill>
                    </a:lnB>
                    <a:solidFill>
                      <a:srgbClr val="FFFFFF"/>
                    </a:solidFill>
                  </a:tcPr>
                </a:tc>
                <a:tc>
                  <a:txBody>
                    <a:bodyPr/>
                    <a:lstStyle/>
                    <a:p>
                      <a:pPr indent="0" marL="0" algn="ctr">
                        <a:buNone/>
                      </a:pPr>
                      <a:r>
                        <a:rPr lang="en-US" sz="1300" b="1" dirty="0">
                          <a:solidFill>
                            <a:srgbClr val="0B1F3A"/>
                          </a:solidFill>
                          <a:latin typeface="Arial" pitchFamily="34" charset="0"/>
                          <a:ea typeface="Arial" pitchFamily="34" charset="-122"/>
                          <a:cs typeface="Arial" pitchFamily="34" charset="-120"/>
                        </a:rPr>
                        <a:t>up to 40</a:t>
                      </a:r>
                    </a:p>
                  </a:txBody>
                  <a:tcPr marL="137160" marR="91440" marT="45720" marB="45720" anchor="ctr">
                    <a:lnL w="9525">
                      <a:noFill/>
                    </a:lnL>
                    <a:lnR w="9525">
                      <a:noFill/>
                    </a:lnR>
                    <a:lnT w="9525">
                      <a:noFill/>
                    </a:lnT>
                    <a:lnB w="9525">
                      <a:solidFill>
                        <a:srgbClr val="D9E0EA"/>
                      </a:solidFill>
                    </a:lnB>
                    <a:solidFill>
                      <a:srgbClr val="E6ECF5"/>
                    </a:solidFill>
                  </a:tcPr>
                </a:tc>
              </a:tr>
            </a:tbl>
          </a:graphicData>
        </a:graphic>
      </p:graphicFrame>
      <p:sp>
        <p:nvSpPr>
          <p:cNvPr id="41" name="Custom note"/>
          <p:cNvSpPr txBox="1"/>
          <p:nvPr/>
        </p:nvSpPr>
        <p:spPr>
          <a:xfrm>
            <a:off x="548640" y="4873752"/>
            <a:ext cx="11091672" cy="274320"/>
          </a:xfrm>
          <a:prstGeom prst="rect">
            <a:avLst/>
          </a:prstGeom>
          <a:noFill/>
          <a:ln/>
        </p:spPr>
        <p:txBody>
          <a:bodyPr wrap="square" lIns="0" tIns="0" rIns="0" bIns="0" rtlCol="0" anchor="t"/>
          <a:lstStyle/>
          <a:p>
            <a:pPr indent="0" marL="0">
              <a:buNone/>
            </a:pPr>
            <a:r>
              <a:rPr lang="en-US" sz="1300" b="1" dirty="0">
                <a:solidFill>
                  <a:srgbClr val="0B1F3A"/>
                </a:solidFill>
                <a:latin typeface="Arial" pitchFamily="34" charset="0"/>
                <a:ea typeface="Arial" pitchFamily="34" charset="-122"/>
                <a:cs typeface="Arial" pitchFamily="34" charset="-120"/>
              </a:rPr>
              <a:t>Custom plan, for firms bigger than Enterprise: </a:t>
            </a:r>
            <a:r>
              <a:rPr lang="en-US" sz="1300" dirty="0">
                <a:solidFill>
                  <a:srgbClr val="0B1F3A"/>
                </a:solidFill>
                <a:latin typeface="Arial" pitchFamily="34" charset="0"/>
                <a:ea typeface="Arial" pitchFamily="34" charset="-122"/>
                <a:cs typeface="Arial" pitchFamily="34" charset="-120"/>
              </a:rPr>
              <a:t>enter your clients, kind of practice and team size on our website and see your price at once.</a:t>
            </a:r>
          </a:p>
        </p:txBody>
      </p:sp>
      <p:sp>
        <p:nvSpPr>
          <p:cNvPr id="42" name="Start note"/>
          <p:cNvSpPr txBox="1"/>
          <p:nvPr/>
        </p:nvSpPr>
        <p:spPr>
          <a:xfrm>
            <a:off x="548640" y="5257800"/>
            <a:ext cx="11091672" cy="960120"/>
          </a:xfrm>
          <a:prstGeom prst="rect">
            <a:avLst/>
          </a:prstGeom>
          <a:noFill/>
          <a:ln/>
        </p:spPr>
        <p:txBody>
          <a:bodyPr wrap="square" lIns="0" tIns="0" rIns="0" bIns="0" rtlCol="0" anchor="t"/>
          <a:lstStyle/>
          <a:p>
            <a:pPr indent="0" marL="0">
              <a:buNone/>
            </a:pPr>
            <a:r>
              <a:rPr lang="en-US" sz="1200" b="1" dirty="0">
                <a:solidFill>
                  <a:srgbClr val="0B1F3A"/>
                </a:solidFill>
                <a:latin typeface="Arial" pitchFamily="34" charset="0"/>
                <a:ea typeface="Arial" pitchFamily="34" charset="-122"/>
                <a:cs typeface="Arial" pitchFamily="34" charset="-120"/>
              </a:rPr>
              <a:t>InboxCA storage: </a:t>
            </a:r>
            <a:r>
              <a:rPr lang="en-US" sz="1200" dirty="0">
                <a:solidFill>
                  <a:srgbClr val="51607A"/>
                </a:solidFill>
                <a:latin typeface="Arial" pitchFamily="34" charset="0"/>
                <a:ea typeface="Arial" pitchFamily="34" charset="-122"/>
                <a:cs typeface="Arial" pitchFamily="34" charset="-120"/>
              </a:rPr>
              <a:t>InboxCA's own working space for your client list, records and the numbers it reads from your files. A new file waits there only until its folder is made in your drive, and that wait is not counted.</a:t>
            </a:r>
          </a:p>
          <a:p>
            <a:pPr indent="0" marL="0">
              <a:spcBef>
                <a:spcPts val="500"/>
              </a:spcBef>
              <a:buNone/>
            </a:pPr>
            <a:r>
              <a:rPr lang="en-US" sz="1200" b="1" dirty="0">
                <a:solidFill>
                  <a:srgbClr val="0B1F3A"/>
                </a:solidFill>
                <a:latin typeface="Arial" pitchFamily="34" charset="0"/>
                <a:ea typeface="Arial" pitchFamily="34" charset="-122"/>
                <a:cs typeface="Arial" pitchFamily="34" charset="-120"/>
              </a:rPr>
              <a:t>Your files: </a:t>
            </a:r>
            <a:r>
              <a:rPr lang="en-US" sz="1200" dirty="0">
                <a:solidFill>
                  <a:srgbClr val="51607A"/>
                </a:solidFill>
                <a:latin typeface="Arial" pitchFamily="34" charset="0"/>
                <a:ea typeface="Arial" pitchFamily="34" charset="-122"/>
                <a:cs typeface="Arial" pitchFamily="34" charset="-120"/>
              </a:rPr>
              <a:t>they stay in your own OneDrive or Dropbox. Clients are unlimited; "suits about" is only a guide.</a:t>
            </a:r>
          </a:p>
          <a:p>
            <a:pPr indent="0" marL="0">
              <a:spcBef>
                <a:spcPts val="500"/>
              </a:spcBef>
              <a:buNone/>
            </a:pPr>
            <a:r>
              <a:rPr lang="en-US" sz="1200" b="1" dirty="0">
                <a:solidFill>
                  <a:srgbClr val="0B1F3A"/>
                </a:solidFill>
                <a:latin typeface="Arial" pitchFamily="34" charset="0"/>
                <a:ea typeface="Arial" pitchFamily="34" charset="-122"/>
                <a:cs typeface="Arial" pitchFamily="34" charset="-120"/>
              </a:rPr>
              <a:t>Later: </a:t>
            </a:r>
            <a:r>
              <a:rPr lang="en-US" sz="1200" dirty="0">
                <a:solidFill>
                  <a:srgbClr val="51607A"/>
                </a:solidFill>
                <a:latin typeface="Arial" pitchFamily="34" charset="0"/>
                <a:ea typeface="Arial" pitchFamily="34" charset="-122"/>
                <a:cs typeface="Arial" pitchFamily="34" charset="-120"/>
              </a:rPr>
              <a:t>if your firm grows, your dashboard shows the new plan and price. One-time setup: about ₹5,080. Extra a month: one more person ₹399, more AI ₹399.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0">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200" b="1" spc="300" kern="0" dirty="0">
                <a:solidFill>
                  <a:srgbClr val="1A4BB0"/>
                </a:solidFill>
                <a:latin typeface="Arial" pitchFamily="34" charset="0"/>
                <a:ea typeface="Arial" pitchFamily="34" charset="-122"/>
                <a:cs typeface="Arial" pitchFamily="34" charset="-120"/>
              </a:rPr>
              <a:t>WHERE THE HOURS GO</a:t>
            </a:r>
            <a:endParaRPr lang="en-US" sz="1200" dirty="0"/>
          </a:p>
        </p:txBody>
      </p:sp>
      <p:sp>
        <p:nvSpPr>
          <p:cNvPr id="3" name="Text 1"/>
          <p:cNvSpPr txBox="1"/>
          <p:nvPr/>
        </p:nvSpPr>
        <p:spPr>
          <a:xfrm>
            <a:off x="548640" y="777240"/>
            <a:ext cx="11091672" cy="685800"/>
          </a:xfrm>
          <a:prstGeom prst="rect">
            <a:avLst/>
          </a:prstGeom>
          <a:noFill/>
          <a:ln/>
        </p:spPr>
        <p:txBody>
          <a:bodyPr wrap="square" lIns="0" tIns="0" rIns="0" bIns="0" rtlCol="0" anchor="t"/>
          <a:lstStyle/>
          <a:p>
            <a:pPr indent="0" marL="0">
              <a:buNone/>
            </a:pPr>
            <a:r>
              <a:rPr lang="en-US" sz="3200" b="1" dirty="0">
                <a:solidFill>
                  <a:srgbClr val="0B1F3A"/>
                </a:solidFill>
                <a:latin typeface="Arial" pitchFamily="34" charset="0"/>
                <a:ea typeface="Arial" pitchFamily="34" charset="-122"/>
                <a:cs typeface="Arial" pitchFamily="34" charset="-120"/>
              </a:rPr>
              <a:t>Where a firm's time goes today</a:t>
            </a:r>
            <a:endParaRPr lang="en-US" sz="3200" dirty="0"/>
          </a:p>
        </p:txBody>
      </p:sp>
      <p:sp>
        <p:nvSpPr>
          <p:cNvPr id="44" name="Text 34"/>
          <p:cNvSpPr txBox="1"/>
          <p:nvPr/>
        </p:nvSpPr>
        <p:spPr>
          <a:xfrm>
            <a:off x="548640" y="6355080"/>
            <a:ext cx="9144000" cy="274320"/>
          </a:xfrm>
          <a:prstGeom prst="rect">
            <a:avLst/>
          </a:prstGeom>
          <a:noFill/>
          <a:ln/>
        </p:spPr>
        <p:txBody>
          <a:bodyPr wrap="square" lIns="0" tIns="0" rIns="0" bIns="0" rtlCol="0" anchor="t"/>
          <a:lstStyle/>
          <a:p>
            <a:pPr indent="0" marL="0">
              <a:buNone/>
            </a:pPr>
            <a:r>
              <a:rPr lang="en-US" sz="1000" dirty="0">
                <a:solidFill>
                  <a:srgbClr val="51607A"/>
                </a:solidFill>
                <a:latin typeface="Arial" pitchFamily="34" charset="0"/>
                <a:ea typeface="Arial" pitchFamily="34" charset="-122"/>
                <a:cs typeface="Arial" pitchFamily="34" charset="-120"/>
              </a:rPr>
              <a:t>InboxCA · a product by Orelu · Prepared for CA Paresh</a:t>
            </a:r>
            <a:endParaRPr lang="en-US" sz="1000" dirty="0"/>
          </a:p>
        </p:txBody>
      </p:sp>
      <p:sp>
        <p:nvSpPr>
          <p:cNvPr id="45" name="Text 35"/>
          <p:cNvSpPr txBox="1"/>
          <p:nvPr/>
        </p:nvSpPr>
        <p:spPr>
          <a:xfrm>
            <a:off x="10908792" y="6355080"/>
            <a:ext cx="731520" cy="274320"/>
          </a:xfrm>
          <a:prstGeom prst="rect">
            <a:avLst/>
          </a:prstGeom>
          <a:noFill/>
          <a:ln/>
        </p:spPr>
        <p:txBody>
          <a:bodyPr wrap="square" lIns="0" tIns="0" rIns="0" bIns="0" rtlCol="0" anchor="t"/>
          <a:lstStyle/>
          <a:p>
            <a:pPr algn="r" indent="0" marL="0">
              <a:buNone/>
            </a:pPr>
            <a:r>
              <a:rPr lang="en-US" sz="1000" dirty="0">
                <a:solidFill>
                  <a:srgbClr val="51607A"/>
                </a:solidFill>
                <a:latin typeface="Arial" pitchFamily="34" charset="0"/>
                <a:ea typeface="Arial" pitchFamily="34" charset="-122"/>
                <a:cs typeface="Arial" pitchFamily="34" charset="-120"/>
              </a:rPr>
              <a:t>2</a:t>
            </a:r>
            <a:endParaRPr lang="en-US" sz="1000" dirty="0"/>
          </a:p>
        </p:txBody>
      </p:sp>
      <p:sp>
        <p:nvSpPr>
          <p:cNvPr id="901" name="Stat card"/>
          <p:cNvSpPr/>
          <p:nvPr/>
        </p:nvSpPr>
        <p:spPr>
          <a:xfrm>
            <a:off x="548640" y="1645920"/>
            <a:ext cx="2635758" cy="3063240"/>
          </a:xfrm>
          <a:prstGeom prst="roundRect">
            <a:avLst>
              <a:gd name="adj" fmla="val 5000"/>
            </a:avLst>
          </a:prstGeom>
          <a:solidFill>
            <a:srgbClr val="FFFFFF"/>
          </a:solidFill>
          <a:ln w="9525">
            <a:solidFill>
              <a:srgbClr val="D9E0EA"/>
            </a:solidFill>
          </a:ln>
        </p:spPr>
        <p:txBody>
          <a:bodyPr wrap="square" lIns="182880" tIns="182880" rIns="155448" bIns="137160" rtlCol="0" anchor="t"/>
          <a:lstStyle/>
          <a:p>
            <a:pPr indent="0" marL="0" algn="l">
              <a:buNone/>
            </a:pPr>
            <a:r>
              <a:rPr lang="en-US" sz="3600" b="1" dirty="0">
                <a:solidFill>
                  <a:srgbClr val="1A4BB0"/>
                </a:solidFill>
                <a:latin typeface="Arial" pitchFamily="34" charset="0"/>
                <a:ea typeface="Arial" pitchFamily="34" charset="-122"/>
                <a:cs typeface="Arial" pitchFamily="34" charset="-120"/>
              </a:rPr>
              <a:t>45%</a:t>
            </a:r>
            <a:r>
              <a:rPr lang="en-US" sz="1300" baseline="110000" dirty="0">
                <a:solidFill>
                  <a:srgbClr val="1A4BB0"/>
                </a:solidFill>
                <a:latin typeface="Arial" pitchFamily="34" charset="0"/>
                <a:ea typeface="Arial" pitchFamily="34" charset="-122"/>
                <a:cs typeface="Arial" pitchFamily="34" charset="-120"/>
              </a:rPr>
              <a:t>*</a:t>
            </a:r>
          </a:p>
          <a:p>
            <a:pPr indent="0" marL="0" algn="l">
              <a:spcBef>
                <a:spcPts val="400"/>
              </a:spcBef>
              <a:buNone/>
            </a:pPr>
            <a:r>
              <a:rPr lang="en-US" sz="1300" dirty="0">
                <a:solidFill>
                  <a:srgbClr val="0B1F3A"/>
                </a:solidFill>
                <a:latin typeface="Arial" pitchFamily="34" charset="0"/>
                <a:ea typeface="Arial" pitchFamily="34" charset="-122"/>
                <a:cs typeface="Arial" pitchFamily="34" charset="-120"/>
              </a:rPr>
              <a:t>of an accounting leader's time goes on running the office, not on client work.</a:t>
            </a:r>
          </a:p>
          <a:p>
            <a:pPr indent="0" marL="0" algn="l">
              <a:spcBef>
                <a:spcPts val="1400"/>
              </a:spcBef>
              <a:buNone/>
            </a:pPr>
            <a:r>
              <a:rPr lang="en-US" sz="1100" b="1" dirty="0">
                <a:solidFill>
                  <a:srgbClr val="12905F"/>
                </a:solidFill>
                <a:latin typeface="Arial" pitchFamily="34" charset="0"/>
                <a:ea typeface="Arial" pitchFamily="34" charset="-122"/>
                <a:cs typeface="Arial" pitchFamily="34" charset="-120"/>
              </a:rPr>
              <a:t>With InboxCA</a:t>
            </a:r>
          </a:p>
          <a:p>
            <a:pPr indent="0" marL="0" algn="l">
              <a:spcBef>
                <a:spcPts val="200"/>
              </a:spcBef>
              <a:buNone/>
            </a:pPr>
            <a:r>
              <a:rPr lang="en-US" sz="1300" b="1" dirty="0">
                <a:solidFill>
                  <a:srgbClr val="0B1F3A"/>
                </a:solidFill>
                <a:latin typeface="Arial" pitchFamily="34" charset="0"/>
                <a:ea typeface="Arial" pitchFamily="34" charset="-122"/>
                <a:cs typeface="Arial" pitchFamily="34" charset="-120"/>
              </a:rPr>
              <a:t>Sorting, saving and typing are done for you.</a:t>
            </a:r>
          </a:p>
        </p:txBody>
      </p:sp>
      <p:sp>
        <p:nvSpPr>
          <p:cNvPr id="902" name="Stat card"/>
          <p:cNvSpPr/>
          <p:nvPr/>
        </p:nvSpPr>
        <p:spPr>
          <a:xfrm>
            <a:off x="3367278" y="1645920"/>
            <a:ext cx="2635758" cy="3063240"/>
          </a:xfrm>
          <a:prstGeom prst="roundRect">
            <a:avLst>
              <a:gd name="adj" fmla="val 5000"/>
            </a:avLst>
          </a:prstGeom>
          <a:solidFill>
            <a:srgbClr val="FFFFFF"/>
          </a:solidFill>
          <a:ln w="9525">
            <a:solidFill>
              <a:srgbClr val="D9E0EA"/>
            </a:solidFill>
          </a:ln>
        </p:spPr>
        <p:txBody>
          <a:bodyPr wrap="square" lIns="182880" tIns="182880" rIns="155448" bIns="137160" rtlCol="0" anchor="t"/>
          <a:lstStyle/>
          <a:p>
            <a:pPr indent="0" marL="0" algn="l">
              <a:buNone/>
            </a:pPr>
            <a:r>
              <a:rPr lang="en-US" sz="3600" b="1" dirty="0">
                <a:solidFill>
                  <a:srgbClr val="1A4BB0"/>
                </a:solidFill>
                <a:latin typeface="Arial" pitchFamily="34" charset="0"/>
                <a:ea typeface="Arial" pitchFamily="34" charset="-122"/>
                <a:cs typeface="Arial" pitchFamily="34" charset="-120"/>
              </a:rPr>
              <a:t>7 in 10</a:t>
            </a:r>
            <a:r>
              <a:rPr lang="en-US" sz="1300" baseline="110000" dirty="0">
                <a:solidFill>
                  <a:srgbClr val="1A4BB0"/>
                </a:solidFill>
                <a:latin typeface="Arial" pitchFamily="34" charset="0"/>
                <a:ea typeface="Arial" pitchFamily="34" charset="-122"/>
                <a:cs typeface="Arial" pitchFamily="34" charset="-120"/>
              </a:rPr>
              <a:t>*</a:t>
            </a:r>
          </a:p>
          <a:p>
            <a:pPr indent="0" marL="0" algn="l">
              <a:spcBef>
                <a:spcPts val="400"/>
              </a:spcBef>
              <a:buNone/>
            </a:pPr>
            <a:r>
              <a:rPr lang="en-US" sz="1300" dirty="0">
                <a:solidFill>
                  <a:srgbClr val="0B1F3A"/>
                </a:solidFill>
                <a:latin typeface="Arial" pitchFamily="34" charset="0"/>
                <a:ea typeface="Arial" pitchFamily="34" charset="-122"/>
                <a:cs typeface="Arial" pitchFamily="34" charset="-120"/>
              </a:rPr>
              <a:t>accountants say collecting papers from clients takes too much of their time.</a:t>
            </a:r>
          </a:p>
          <a:p>
            <a:pPr indent="0" marL="0" algn="l">
              <a:spcBef>
                <a:spcPts val="1400"/>
              </a:spcBef>
              <a:buNone/>
            </a:pPr>
            <a:r>
              <a:rPr lang="en-US" sz="1100" b="1" dirty="0">
                <a:solidFill>
                  <a:srgbClr val="12905F"/>
                </a:solidFill>
                <a:latin typeface="Arial" pitchFamily="34" charset="0"/>
                <a:ea typeface="Arial" pitchFamily="34" charset="-122"/>
                <a:cs typeface="Arial" pitchFamily="34" charset="-120"/>
              </a:rPr>
              <a:t>With InboxCA</a:t>
            </a:r>
          </a:p>
          <a:p>
            <a:pPr indent="0" marL="0" algn="l">
              <a:spcBef>
                <a:spcPts val="200"/>
              </a:spcBef>
              <a:buNone/>
            </a:pPr>
            <a:r>
              <a:rPr lang="en-US" sz="1300" b="1" dirty="0">
                <a:solidFill>
                  <a:srgbClr val="0B1F3A"/>
                </a:solidFill>
                <a:latin typeface="Arial" pitchFamily="34" charset="0"/>
                <a:ea typeface="Arial" pitchFamily="34" charset="-122"/>
                <a:cs typeface="Arial" pitchFamily="34" charset="-120"/>
              </a:rPr>
              <a:t>Clients are reminded only for what is still missing.</a:t>
            </a:r>
          </a:p>
        </p:txBody>
      </p:sp>
      <p:sp>
        <p:nvSpPr>
          <p:cNvPr id="903" name="Stat card"/>
          <p:cNvSpPr/>
          <p:nvPr/>
        </p:nvSpPr>
        <p:spPr>
          <a:xfrm>
            <a:off x="6185916" y="1645920"/>
            <a:ext cx="2635758" cy="3063240"/>
          </a:xfrm>
          <a:prstGeom prst="roundRect">
            <a:avLst>
              <a:gd name="adj" fmla="val 5000"/>
            </a:avLst>
          </a:prstGeom>
          <a:solidFill>
            <a:srgbClr val="FFFFFF"/>
          </a:solidFill>
          <a:ln w="9525">
            <a:solidFill>
              <a:srgbClr val="D9E0EA"/>
            </a:solidFill>
          </a:ln>
        </p:spPr>
        <p:txBody>
          <a:bodyPr wrap="square" lIns="182880" tIns="182880" rIns="155448" bIns="137160" rtlCol="0" anchor="t"/>
          <a:lstStyle/>
          <a:p>
            <a:pPr indent="0" marL="0" algn="l">
              <a:buNone/>
            </a:pPr>
            <a:r>
              <a:rPr lang="en-US" sz="3600" b="1" dirty="0">
                <a:solidFill>
                  <a:srgbClr val="1A4BB0"/>
                </a:solidFill>
                <a:latin typeface="Arial" pitchFamily="34" charset="0"/>
                <a:ea typeface="Arial" pitchFamily="34" charset="-122"/>
                <a:cs typeface="Arial" pitchFamily="34" charset="-120"/>
              </a:rPr>
              <a:t>8 in 10</a:t>
            </a:r>
            <a:r>
              <a:rPr lang="en-US" sz="1300" baseline="110000" dirty="0">
                <a:solidFill>
                  <a:srgbClr val="1A4BB0"/>
                </a:solidFill>
                <a:latin typeface="Arial" pitchFamily="34" charset="0"/>
                <a:ea typeface="Arial" pitchFamily="34" charset="-122"/>
                <a:cs typeface="Arial" pitchFamily="34" charset="-120"/>
              </a:rPr>
              <a:t>*</a:t>
            </a:r>
          </a:p>
          <a:p>
            <a:pPr indent="0" marL="0" algn="l">
              <a:spcBef>
                <a:spcPts val="400"/>
              </a:spcBef>
              <a:buNone/>
            </a:pPr>
            <a:r>
              <a:rPr lang="en-US" sz="1300" dirty="0">
                <a:solidFill>
                  <a:srgbClr val="0B1F3A"/>
                </a:solidFill>
                <a:latin typeface="Arial" pitchFamily="34" charset="0"/>
                <a:ea typeface="Arial" pitchFamily="34" charset="-122"/>
                <a:cs typeface="Arial" pitchFamily="34" charset="-120"/>
              </a:rPr>
              <a:t>say finding files inside their own firm takes too much of their time.</a:t>
            </a:r>
          </a:p>
          <a:p>
            <a:pPr indent="0" marL="0" algn="l">
              <a:spcBef>
                <a:spcPts val="1400"/>
              </a:spcBef>
              <a:buNone/>
            </a:pPr>
            <a:r>
              <a:rPr lang="en-US" sz="1100" b="1" dirty="0">
                <a:solidFill>
                  <a:srgbClr val="12905F"/>
                </a:solidFill>
                <a:latin typeface="Arial" pitchFamily="34" charset="0"/>
                <a:ea typeface="Arial" pitchFamily="34" charset="-122"/>
                <a:cs typeface="Arial" pitchFamily="34" charset="-120"/>
              </a:rPr>
              <a:t>With InboxCA</a:t>
            </a:r>
          </a:p>
          <a:p>
            <a:pPr indent="0" marL="0" algn="l">
              <a:spcBef>
                <a:spcPts val="200"/>
              </a:spcBef>
              <a:buNone/>
            </a:pPr>
            <a:r>
              <a:rPr lang="en-US" sz="1300" b="1" dirty="0">
                <a:solidFill>
                  <a:srgbClr val="0B1F3A"/>
                </a:solidFill>
                <a:latin typeface="Arial" pitchFamily="34" charset="0"/>
                <a:ea typeface="Arial" pitchFamily="34" charset="-122"/>
                <a:cs typeface="Arial" pitchFamily="34" charset="-120"/>
              </a:rPr>
              <a:t>Every paper is saved in the right client folder.</a:t>
            </a:r>
          </a:p>
        </p:txBody>
      </p:sp>
      <p:sp>
        <p:nvSpPr>
          <p:cNvPr id="904" name="Stat card"/>
          <p:cNvSpPr/>
          <p:nvPr/>
        </p:nvSpPr>
        <p:spPr>
          <a:xfrm>
            <a:off x="9004554" y="1645920"/>
            <a:ext cx="2635758" cy="3063240"/>
          </a:xfrm>
          <a:prstGeom prst="roundRect">
            <a:avLst>
              <a:gd name="adj" fmla="val 5000"/>
            </a:avLst>
          </a:prstGeom>
          <a:solidFill>
            <a:srgbClr val="FFFFFF"/>
          </a:solidFill>
          <a:ln w="9525">
            <a:solidFill>
              <a:srgbClr val="D9E0EA"/>
            </a:solidFill>
          </a:ln>
        </p:spPr>
        <p:txBody>
          <a:bodyPr wrap="square" lIns="182880" tIns="182880" rIns="155448" bIns="137160" rtlCol="0" anchor="t"/>
          <a:lstStyle/>
          <a:p>
            <a:pPr indent="0" marL="0" algn="l">
              <a:buNone/>
            </a:pPr>
            <a:r>
              <a:rPr lang="en-US" sz="3600" b="1" dirty="0">
                <a:solidFill>
                  <a:srgbClr val="1A4BB0"/>
                </a:solidFill>
                <a:latin typeface="Arial" pitchFamily="34" charset="0"/>
                <a:ea typeface="Arial" pitchFamily="34" charset="-122"/>
                <a:cs typeface="Arial" pitchFamily="34" charset="-120"/>
              </a:rPr>
              <a:t>3 hours</a:t>
            </a:r>
            <a:r>
              <a:rPr lang="en-US" sz="1300" baseline="110000" dirty="0">
                <a:solidFill>
                  <a:srgbClr val="1A4BB0"/>
                </a:solidFill>
                <a:latin typeface="Arial" pitchFamily="34" charset="0"/>
                <a:ea typeface="Arial" pitchFamily="34" charset="-122"/>
                <a:cs typeface="Arial" pitchFamily="34" charset="-120"/>
              </a:rPr>
              <a:t>*</a:t>
            </a:r>
          </a:p>
          <a:p>
            <a:pPr indent="0" marL="0" algn="l">
              <a:spcBef>
                <a:spcPts val="400"/>
              </a:spcBef>
              <a:buNone/>
            </a:pPr>
            <a:r>
              <a:rPr lang="en-US" sz="1300" dirty="0">
                <a:solidFill>
                  <a:srgbClr val="0B1F3A"/>
                </a:solidFill>
                <a:latin typeface="Arial" pitchFamily="34" charset="0"/>
                <a:ea typeface="Arial" pitchFamily="34" charset="-122"/>
                <a:cs typeface="Arial" pitchFamily="34" charset="-120"/>
              </a:rPr>
              <a:t>a week, for each person, is what firms using a similar tool say they save on email.</a:t>
            </a:r>
          </a:p>
          <a:p>
            <a:pPr indent="0" marL="0" algn="l">
              <a:spcBef>
                <a:spcPts val="1400"/>
              </a:spcBef>
              <a:buNone/>
            </a:pPr>
            <a:r>
              <a:rPr lang="en-US" sz="1100" b="1" dirty="0">
                <a:solidFill>
                  <a:srgbClr val="12905F"/>
                </a:solidFill>
                <a:latin typeface="Arial" pitchFamily="34" charset="0"/>
                <a:ea typeface="Arial" pitchFamily="34" charset="-122"/>
                <a:cs typeface="Arial" pitchFamily="34" charset="-120"/>
              </a:rPr>
              <a:t>With InboxCA</a:t>
            </a:r>
          </a:p>
          <a:p>
            <a:pPr indent="0" marL="0" algn="l">
              <a:spcBef>
                <a:spcPts val="200"/>
              </a:spcBef>
              <a:buNone/>
            </a:pPr>
            <a:r>
              <a:rPr lang="en-US" sz="1300" b="1" dirty="0">
                <a:solidFill>
                  <a:srgbClr val="0B1F3A"/>
                </a:solidFill>
                <a:latin typeface="Arial" pitchFamily="34" charset="0"/>
                <a:ea typeface="Arial" pitchFamily="34" charset="-122"/>
                <a:cs typeface="Arial" pitchFamily="34" charset="-120"/>
              </a:rPr>
              <a:t>Client emails are read, sorted and answered for you.</a:t>
            </a:r>
          </a:p>
        </p:txBody>
      </p:sp>
      <p:sp>
        <p:nvSpPr>
          <p:cNvPr id="906" name="Footnote"/>
          <p:cNvSpPr txBox="1"/>
          <p:nvPr/>
        </p:nvSpPr>
        <p:spPr>
          <a:xfrm>
            <a:off x="548640" y="5989320"/>
            <a:ext cx="11091672" cy="320040"/>
          </a:xfrm>
          <a:prstGeom prst="rect">
            <a:avLst/>
          </a:prstGeom>
          <a:noFill/>
          <a:ln/>
        </p:spPr>
        <p:txBody>
          <a:bodyPr wrap="square" lIns="0" tIns="0" rIns="0" bIns="0" rtlCol="0" anchor="t"/>
          <a:lstStyle/>
          <a:p>
            <a:pPr indent="0" marL="0">
              <a:buNone/>
            </a:pPr>
            <a:r>
              <a:rPr lang="en-US" sz="900" dirty="0">
                <a:solidFill>
                  <a:srgbClr val="51607A"/>
                </a:solidFill>
                <a:latin typeface="Arial" pitchFamily="34" charset="0"/>
                <a:ea typeface="Arial" pitchFamily="34" charset="-122"/>
                <a:cs typeface="Arial" pitchFamily="34" charset="-120"/>
              </a:rPr>
              <a:t>* From surveys published by other practice-software companies: Canopy (October 2022, 150 US accountants; and its 2024 practice management report) and Karbon (2026, its own customers). All are from outside India. InboxCA's own time savings will be measured at your firm.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200" b="1" spc="300" kern="0" dirty="0">
                <a:solidFill>
                  <a:srgbClr val="1A4BB0"/>
                </a:solidFill>
                <a:latin typeface="Arial" pitchFamily="34" charset="0"/>
                <a:ea typeface="Arial" pitchFamily="34" charset="-122"/>
                <a:cs typeface="Arial" pitchFamily="34" charset="-120"/>
              </a:rPr>
              <a:t>AFTER LAUNCH</a:t>
            </a:r>
            <a:endParaRPr lang="en-US" sz="1200" dirty="0"/>
          </a:p>
        </p:txBody>
      </p:sp>
      <p:sp>
        <p:nvSpPr>
          <p:cNvPr id="3" name="Text 1"/>
          <p:cNvSpPr txBox="1"/>
          <p:nvPr/>
        </p:nvSpPr>
        <p:spPr>
          <a:xfrm>
            <a:off x="548640" y="777240"/>
            <a:ext cx="11091672" cy="685800"/>
          </a:xfrm>
          <a:prstGeom prst="rect">
            <a:avLst/>
          </a:prstGeom>
          <a:noFill/>
          <a:ln/>
        </p:spPr>
        <p:txBody>
          <a:bodyPr wrap="square" lIns="0" tIns="0" rIns="0" bIns="0" rtlCol="0" anchor="t"/>
          <a:lstStyle/>
          <a:p>
            <a:pPr indent="0" marL="0">
              <a:buNone/>
            </a:pPr>
            <a:r>
              <a:rPr lang="en-US" sz="3200" b="1" dirty="0">
                <a:solidFill>
                  <a:srgbClr val="0B1F3A"/>
                </a:solidFill>
                <a:latin typeface="Arial" pitchFamily="34" charset="0"/>
                <a:ea typeface="Arial" pitchFamily="34" charset="-122"/>
                <a:cs typeface="Arial" pitchFamily="34" charset="-120"/>
              </a:rPr>
              <a:t>What we plan to add next (future features)</a:t>
            </a:r>
            <a:endParaRPr lang="en-US" sz="3200" dirty="0"/>
          </a:p>
        </p:txBody>
      </p:sp>
      <p:sp>
        <p:nvSpPr>
          <p:cNvPr id="44" name="Text 34"/>
          <p:cNvSpPr txBox="1"/>
          <p:nvPr/>
        </p:nvSpPr>
        <p:spPr>
          <a:xfrm>
            <a:off x="548640" y="6355080"/>
            <a:ext cx="9144000" cy="274320"/>
          </a:xfrm>
          <a:prstGeom prst="rect">
            <a:avLst/>
          </a:prstGeom>
          <a:noFill/>
          <a:ln/>
        </p:spPr>
        <p:txBody>
          <a:bodyPr wrap="square" lIns="0" tIns="0" rIns="0" bIns="0" rtlCol="0" anchor="t"/>
          <a:lstStyle/>
          <a:p>
            <a:pPr indent="0" marL="0">
              <a:buNone/>
            </a:pPr>
            <a:r>
              <a:rPr lang="en-US" sz="1000" dirty="0">
                <a:solidFill>
                  <a:srgbClr val="51607A"/>
                </a:solidFill>
                <a:latin typeface="Arial" pitchFamily="34" charset="0"/>
                <a:ea typeface="Arial" pitchFamily="34" charset="-122"/>
                <a:cs typeface="Arial" pitchFamily="34" charset="-120"/>
              </a:rPr>
              <a:t>InboxCA · a product by Orelu · Prepared for CA Paresh</a:t>
            </a:r>
            <a:endParaRPr lang="en-US" sz="1000" dirty="0"/>
          </a:p>
        </p:txBody>
      </p:sp>
      <p:sp>
        <p:nvSpPr>
          <p:cNvPr id="45" name="Text 35"/>
          <p:cNvSpPr txBox="1"/>
          <p:nvPr/>
        </p:nvSpPr>
        <p:spPr>
          <a:xfrm>
            <a:off x="10908792" y="6355080"/>
            <a:ext cx="731520" cy="274320"/>
          </a:xfrm>
          <a:prstGeom prst="rect">
            <a:avLst/>
          </a:prstGeom>
          <a:noFill/>
          <a:ln/>
        </p:spPr>
        <p:txBody>
          <a:bodyPr wrap="square" lIns="0" tIns="0" rIns="0" bIns="0" rtlCol="0" anchor="t"/>
          <a:lstStyle/>
          <a:p>
            <a:pPr algn="r" indent="0" marL="0">
              <a:buNone/>
            </a:pPr>
            <a:r>
              <a:rPr lang="en-US" sz="1000" dirty="0">
                <a:solidFill>
                  <a:srgbClr val="51607A"/>
                </a:solidFill>
                <a:latin typeface="Arial" pitchFamily="34" charset="0"/>
                <a:ea typeface="Arial" pitchFamily="34" charset="-122"/>
                <a:cs typeface="Arial" pitchFamily="34" charset="-120"/>
              </a:rPr>
              <a:t>10</a:t>
            </a:r>
            <a:endParaRPr lang="en-US" sz="1000" dirty="0"/>
          </a:p>
        </p:txBody>
      </p:sp>
      <p:graphicFrame>
        <p:nvGraphicFramePr>
          <p:cNvPr id="900" name="Table"/>
          <p:cNvGraphicFramePr>
            <a:graphicFrameLocks noGrp="1"/>
          </p:cNvGraphicFramePr>
          <p:nvPr/>
        </p:nvGraphicFramePr>
        <p:xfrm>
          <a:off x="548640" y="1600200"/>
          <a:ext cx="11091672" cy="4270248"/>
        </p:xfrm>
        <a:graphic>
          <a:graphicData uri="http://schemas.openxmlformats.org/drawingml/2006/table">
            <a:tbl>
              <a:tblPr firstRow="1"/>
              <a:tblGrid>
                <a:gridCol w="3017520"/>
                <a:gridCol w="8074152"/>
              </a:tblGrid>
              <a:tr h="393192">
                <a:tc>
                  <a:txBody>
                    <a:bodyPr/>
                    <a:lstStyle/>
                    <a:p>
                      <a:pPr indent="0" marL="0" algn="l">
                        <a:buNone/>
                      </a:pPr>
                      <a:r>
                        <a:rPr lang="en-US" sz="1300" b="1" dirty="0">
                          <a:solidFill>
                            <a:srgbClr val="FFFFFF"/>
                          </a:solidFill>
                          <a:latin typeface="Arial" pitchFamily="34" charset="0"/>
                          <a:ea typeface="Arial" pitchFamily="34" charset="-122"/>
                          <a:cs typeface="Arial" pitchFamily="34" charset="-120"/>
                        </a:rPr>
                        <a:t>Coming next</a:t>
                      </a:r>
                    </a:p>
                  </a:txBody>
                  <a:tcPr marL="137160" marR="137160" marT="64008" marB="64008" anchor="ctr">
                    <a:lnL w="9525">
                      <a:noFill/>
                    </a:lnL>
                    <a:lnR w="9525">
                      <a:noFill/>
                    </a:lnR>
                    <a:lnT w="9525">
                      <a:noFill/>
                    </a:lnT>
                    <a:lnB w="9525">
                      <a:noFill/>
                    </a:lnB>
                    <a:solidFill>
                      <a:srgbClr val="0B1F3A"/>
                    </a:solidFill>
                  </a:tcPr>
                </a:tc>
                <a:tc>
                  <a:txBody>
                    <a:bodyPr/>
                    <a:lstStyle/>
                    <a:p>
                      <a:pPr indent="0" marL="0" algn="l">
                        <a:buNone/>
                      </a:pPr>
                      <a:r>
                        <a:rPr lang="en-US" sz="1300" b="1" dirty="0">
                          <a:solidFill>
                            <a:srgbClr val="FFFFFF"/>
                          </a:solidFill>
                          <a:latin typeface="Arial" pitchFamily="34" charset="0"/>
                          <a:ea typeface="Arial" pitchFamily="34" charset="-122"/>
                          <a:cs typeface="Arial" pitchFamily="34" charset="-120"/>
                        </a:rPr>
                        <a:t>What it does for you</a:t>
                      </a:r>
                    </a:p>
                  </a:txBody>
                  <a:tcPr marL="137160" marR="137160" marT="64008" marB="64008" anchor="ctr">
                    <a:lnL w="9525">
                      <a:noFill/>
                    </a:lnL>
                    <a:lnR w="9525">
                      <a:noFill/>
                    </a:lnR>
                    <a:lnT w="9525">
                      <a:noFill/>
                    </a:lnT>
                    <a:lnB w="9525">
                      <a:noFill/>
                    </a:lnB>
                    <a:solidFill>
                      <a:srgbClr val="0B1F3A"/>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Signature expiry alerts</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A client's digital signature (DSC) is about to expire? You are told weeks before filing day.</a:t>
                      </a:r>
                    </a:p>
                  </a:txBody>
                  <a:tcPr marL="137160" marR="137160" marT="64008" marB="64008" anchor="ctr">
                    <a:lnL w="9525">
                      <a:noFill/>
                    </a:lnL>
                    <a:lnR w="9525">
                      <a:noFill/>
                    </a:lnR>
                    <a:lnT w="9525">
                      <a:noFill/>
                    </a:lnT>
                    <a:lnB w="9525">
                      <a:solidFill>
                        <a:srgbClr val="D9E0EA"/>
                      </a:solidFill>
                    </a:lnB>
                    <a:solidFill>
                      <a:srgbClr val="FFFFFF"/>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All notices in one list</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Every tax notice, with the date the reply is due and who is handling it.</a:t>
                      </a:r>
                    </a:p>
                  </a:txBody>
                  <a:tcPr marL="137160" marR="137160" marT="64008" marB="64008" anchor="ctr">
                    <a:lnL w="9525">
                      <a:noFill/>
                    </a:lnL>
                    <a:lnR w="9525">
                      <a:noFill/>
                    </a:lnR>
                    <a:lnT w="9525">
                      <a:noFill/>
                    </a:lnT>
                    <a:lnB w="9525">
                      <a:solidFill>
                        <a:srgbClr val="D9E0EA"/>
                      </a:solidFill>
                    </a:lnB>
                    <a:solidFill>
                      <a:srgbClr val="FFFFFF"/>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Morning summary</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One email each morning: what came in, what is due this week and what is stuck.</a:t>
                      </a:r>
                    </a:p>
                  </a:txBody>
                  <a:tcPr marL="137160" marR="137160" marT="64008" marB="64008" anchor="ctr">
                    <a:lnL w="9525">
                      <a:noFill/>
                    </a:lnL>
                    <a:lnR w="9525">
                      <a:noFill/>
                    </a:lnR>
                    <a:lnT w="9525">
                      <a:noFill/>
                    </a:lnT>
                    <a:lnB w="9525">
                      <a:solidFill>
                        <a:srgbClr val="D9E0EA"/>
                      </a:solidFill>
                    </a:lnB>
                    <a:solidFill>
                      <a:srgbClr val="FFFFFF"/>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UDIN register</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Every UDIN in one list, with a reminder before the 60 days run out.</a:t>
                      </a:r>
                    </a:p>
                  </a:txBody>
                  <a:tcPr marL="137160" marR="137160" marT="64008" marB="64008" anchor="ctr">
                    <a:lnL w="9525">
                      <a:noFill/>
                    </a:lnL>
                    <a:lnR w="9525">
                      <a:noFill/>
                    </a:lnR>
                    <a:lnT w="9525">
                      <a:noFill/>
                    </a:lnT>
                    <a:lnB w="9525">
                      <a:solidFill>
                        <a:srgbClr val="D9E0EA"/>
                      </a:solidFill>
                    </a:lnB>
                    <a:solidFill>
                      <a:srgbClr val="FFFFFF"/>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Last year's paper list</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Each client's list of papers is made from what they sent last year, so nothing is missed.</a:t>
                      </a:r>
                    </a:p>
                  </a:txBody>
                  <a:tcPr marL="137160" marR="137160" marT="64008" marB="64008" anchor="ctr">
                    <a:lnL w="9525">
                      <a:noFill/>
                    </a:lnL>
                    <a:lnR w="9525">
                      <a:noFill/>
                    </a:lnR>
                    <a:lnT w="9525">
                      <a:noFill/>
                    </a:lnT>
                    <a:lnB w="9525">
                      <a:solidFill>
                        <a:srgbClr val="D9E0EA"/>
                      </a:solidFill>
                    </a:lnB>
                    <a:solidFill>
                      <a:srgbClr val="FFFFFF"/>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Renewal reminders</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Licences and registrations that expire: you and your client are reminded in good time.</a:t>
                      </a:r>
                    </a:p>
                  </a:txBody>
                  <a:tcPr marL="137160" marR="137160" marT="64008" marB="64008" anchor="ctr">
                    <a:lnL w="9525">
                      <a:noFill/>
                    </a:lnL>
                    <a:lnR w="9525">
                      <a:noFill/>
                    </a:lnR>
                    <a:lnT w="9525">
                      <a:noFill/>
                    </a:lnT>
                    <a:lnB w="9525">
                      <a:solidFill>
                        <a:srgbClr val="D9E0EA"/>
                      </a:solidFill>
                    </a:lnB>
                    <a:solidFill>
                      <a:srgbClr val="FFFFFF"/>
                    </a:solidFill>
                  </a:tcPr>
                </a:tc>
              </a:tr>
              <a:tr h="484632">
                <a:tc>
                  <a:txBody>
                    <a:bodyPr/>
                    <a:lstStyle/>
                    <a:p>
                      <a:pPr indent="0" marL="0" algn="l">
                        <a:buNone/>
                      </a:pPr>
                      <a:r>
                        <a:rPr lang="en-US" sz="1500" b="1" dirty="0">
                          <a:solidFill>
                            <a:srgbClr val="0B1F3A"/>
                          </a:solidFill>
                          <a:latin typeface="Arial" pitchFamily="34" charset="0"/>
                          <a:ea typeface="Arial" pitchFamily="34" charset="-122"/>
                          <a:cs typeface="Arial" pitchFamily="34" charset="-120"/>
                        </a:rPr>
                        <a:t>Due date changes</a:t>
                      </a:r>
                    </a:p>
                  </a:txBody>
                  <a:tcPr marL="137160" marR="137160" marT="64008" marB="64008" anchor="ctr">
                    <a:lnL w="9525">
                      <a:noFill/>
                    </a:lnL>
                    <a:lnR w="9525">
                      <a:noFill/>
                    </a:lnR>
                    <a:lnT w="9525">
                      <a:noFill/>
                    </a:lnT>
                    <a:lnB w="9525">
                      <a:solidFill>
                        <a:srgbClr val="D9E0EA"/>
                      </a:solidFill>
                    </a:lnB>
                    <a:solidFill>
                      <a:srgbClr val="FFFFFF"/>
                    </a:solidFill>
                  </a:tcPr>
                </a:tc>
                <a:tc>
                  <a:txBody>
                    <a:bodyPr/>
                    <a:lstStyle/>
                    <a:p>
                      <a:pPr indent="0" marL="0" algn="l">
                        <a:buNone/>
                      </a:pPr>
                      <a:r>
                        <a:rPr lang="en-US" sz="1400" dirty="0">
                          <a:solidFill>
                            <a:srgbClr val="51607A"/>
                          </a:solidFill>
                          <a:latin typeface="Arial" pitchFamily="34" charset="0"/>
                          <a:ea typeface="Arial" pitchFamily="34" charset="-122"/>
                          <a:cs typeface="Arial" pitchFamily="34" charset="-120"/>
                        </a:rPr>
                        <a:t>If the government moves a due date, your reminders move too. Tell clients in one click.</a:t>
                      </a:r>
                    </a:p>
                  </a:txBody>
                  <a:tcPr marL="137160" marR="137160" marT="64008" marB="64008" anchor="ctr">
                    <a:lnL w="9525">
                      <a:noFill/>
                    </a:lnL>
                    <a:lnR w="9525">
                      <a:noFill/>
                    </a:lnR>
                    <a:lnT w="9525">
                      <a:noFill/>
                    </a:lnT>
                    <a:lnB w="9525">
                      <a:solidFill>
                        <a:srgbClr val="D9E0EA"/>
                      </a:solidFill>
                    </a:lnB>
                    <a:solidFill>
                      <a:srgbClr val="FFFFFF"/>
                    </a:solidFill>
                  </a:tcPr>
                </a:tc>
              </a:tr>
            </a:tbl>
          </a:graphicData>
        </a:graphic>
      </p:graphicFrame>
      <p:sp>
        <p:nvSpPr>
          <p:cNvPr id="60" name="Next note"/>
          <p:cNvSpPr txBox="1"/>
          <p:nvPr/>
        </p:nvSpPr>
        <p:spPr>
          <a:xfrm>
            <a:off x="548640" y="5577840"/>
            <a:ext cx="11091672" cy="594360"/>
          </a:xfrm>
          <a:prstGeom prst="rect">
            <a:avLst/>
          </a:prstGeom>
          <a:noFill/>
          <a:ln/>
        </p:spPr>
        <p:txBody>
          <a:bodyPr wrap="square" lIns="0" tIns="0" rIns="0" bIns="0" rtlCol="0" anchor="t"/>
          <a:lstStyle/>
          <a:p>
            <a:pPr indent="0" marL="0">
              <a:buNone/>
            </a:pPr>
            <a:r>
              <a:rPr lang="en-US" sz="1200" b="1" dirty="0">
                <a:solidFill>
                  <a:srgbClr val="0B1F3A"/>
                </a:solidFill>
                <a:latin typeface="Arial" pitchFamily="34" charset="0"/>
                <a:ea typeface="Arial" pitchFamily="34" charset="-122"/>
                <a:cs typeface="Arial" pitchFamily="34" charset="-120"/>
              </a:rPr>
              <a:t>No passwords: </a:t>
            </a:r>
            <a:r>
              <a:rPr lang="en-US" sz="1200" dirty="0">
                <a:solidFill>
                  <a:srgbClr val="51607A"/>
                </a:solidFill>
                <a:latin typeface="Arial" pitchFamily="34" charset="0"/>
                <a:ea typeface="Arial" pitchFamily="34" charset="-122"/>
                <a:cs typeface="Arial" pitchFamily="34" charset="-120"/>
              </a:rPr>
              <a:t>all of this works from your firm's email and your drive. InboxCA never asks for a tax portal password or OTP.</a:t>
            </a:r>
          </a:p>
          <a:p>
            <a:pPr indent="0" marL="0">
              <a:spcBef>
                <a:spcPts val="500"/>
              </a:spcBef>
              <a:buNone/>
            </a:pPr>
            <a:r>
              <a:rPr lang="en-US" sz="1200" b="1" dirty="0">
                <a:solidFill>
                  <a:srgbClr val="0B1F3A"/>
                </a:solidFill>
                <a:latin typeface="Arial" pitchFamily="34" charset="0"/>
                <a:ea typeface="Arial" pitchFamily="34" charset="-122"/>
                <a:cs typeface="Arial" pitchFamily="34" charset="-120"/>
              </a:rPr>
              <a:t>Timing: </a:t>
            </a:r>
            <a:r>
              <a:rPr lang="en-US" sz="1200" dirty="0">
                <a:solidFill>
                  <a:srgbClr val="51607A"/>
                </a:solidFill>
                <a:latin typeface="Arial" pitchFamily="34" charset="0"/>
                <a:ea typeface="Arial" pitchFamily="34" charset="-122"/>
                <a:cs typeface="Arial" pitchFamily="34" charset="-120"/>
              </a:rPr>
              <a:t>these are planned for after launch. They are not in the first version; we will tell you as each one is ready.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Orelu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 chasing for your CA firm</dc:title>
  <dc:subject>PptxGenJS Presentation</dc:subject>
  <dc:creator>PptxGenJS</dc:creator>
  <cp:lastModifiedBy>PptxGenJS</cp:lastModifiedBy>
  <cp:revision>1</cp:revision>
  <dcterms:created xsi:type="dcterms:W3CDTF">2026-09-28T13:30:17Z</dcterms:created>
  <dcterms:modified xsi:type="dcterms:W3CDTF">2026-09-28T13:30:17Z</dcterms:modified>
</cp:coreProperties>
</file>